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微软雅黑"/>
                <a:ea typeface="微软雅黑"/>
              </a:rPr>
              <a:t>Skill 自优化流程图（v3 PR 闭环模式）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/>
                <a:ea typeface="微软雅黑"/>
              </a:rPr>
              <a:t>1+N 数字员工框架  ·  analysis → skillopt-01 → dev-02 → analysis 裁判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187" y="1828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① 诊断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187" y="22860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80000" bIns="80000"/>
          <a:lstStyle/>
          <a:p>
            <a:pPr algn="ctr"/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by analysis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757575"/>
                </a:solidFill>
                <a:latin typeface="微软雅黑"/>
                <a:ea typeface="微软雅黑"/>
              </a:rPr>
              <a:t>📥 输入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读 session + spec
+ rev-01 意见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E65C00"/>
                </a:solidFill>
                <a:latin typeface="微软雅黑"/>
                <a:ea typeface="微软雅黑"/>
              </a:rPr>
              <a:t>📤 输出</a:t>
            </a:r>
          </a:p>
          <a:p>
            <a:pPr algn="ctr"/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diagnosis.json
+ skillopt:pending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92627" y="2788920"/>
            <a:ext cx="32004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8387" y="1828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② 改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8387" y="22860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80000" bIns="80000"/>
          <a:lstStyle/>
          <a:p>
            <a:pPr algn="ctr"/>
            <a:r>
              <a:rPr sz="1000" b="1">
                <a:solidFill>
                  <a:srgbClr val="1E88E5"/>
                </a:solidFill>
                <a:latin typeface="微软雅黑"/>
                <a:ea typeface="微软雅黑"/>
              </a:rPr>
              <a:t>by skillopt-01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757575"/>
                </a:solidFill>
                <a:latin typeface="微软雅黑"/>
                <a:ea typeface="微软雅黑"/>
              </a:rPr>
              <a:t>📥 输入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改 aid-workflow-skills
开分支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1E88E5"/>
                </a:solidFill>
                <a:latin typeface="微软雅黑"/>
                <a:ea typeface="微软雅黑"/>
              </a:rPr>
              <a:t>📤 输出</a:t>
            </a:r>
          </a:p>
          <a:p>
            <a:pPr algn="ctr"/>
            <a:r>
              <a:rPr sz="1000" b="1">
                <a:solidFill>
                  <a:srgbClr val="1E88E5"/>
                </a:solidFill>
                <a:latin typeface="微软雅黑"/>
                <a:ea typeface="微软雅黑"/>
              </a:rPr>
              <a:t>commit + [regression]
issue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5827" y="2788920"/>
            <a:ext cx="32004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587" y="1828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③ 沙箱回归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22860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80000" bIns="80000"/>
          <a:lstStyle/>
          <a:p>
            <a:pPr algn="ctr"/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by dev-02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757575"/>
                </a:solidFill>
                <a:latin typeface="微软雅黑"/>
                <a:ea typeface="微软雅黑"/>
              </a:rPr>
              <a:t>📥 输入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拉新 skill
跑完整 AID-Workflow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2E7D32"/>
                </a:solidFill>
                <a:latin typeface="微软雅黑"/>
                <a:ea typeface="微软雅黑"/>
              </a:rPr>
              <a:t>📤 输出</a:t>
            </a:r>
          </a:p>
          <a:p>
            <a:pPr algn="ctr"/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新制品 + 测试报告
+ regression-done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79027" y="2788920"/>
            <a:ext cx="320040" cy="274320"/>
          </a:xfrm>
          <a:prstGeom prst="rightArrow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4787" y="1828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AD1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④ 裁判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4787" y="228600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80000" bIns="80000"/>
          <a:lstStyle/>
          <a:p>
            <a:pPr algn="ctr"/>
            <a:r>
              <a:rPr sz="1000" b="1">
                <a:solidFill>
                  <a:srgbClr val="AD1457"/>
                </a:solidFill>
                <a:latin typeface="微软雅黑"/>
                <a:ea typeface="微软雅黑"/>
              </a:rPr>
              <a:t>by analysis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757575"/>
                </a:solidFill>
                <a:latin typeface="微软雅黑"/>
                <a:ea typeface="微软雅黑"/>
              </a:rPr>
              <a:t>📥 输入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对比新旧制品
判定有效性</a:t>
            </a:r>
          </a:p>
          <a:p>
            <a:pPr algn="ctr"/>
            <a:r>
              <a:rPr sz="400" b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</a:p>
          <a:p>
            <a:pPr algn="ctr"/>
            <a:r>
              <a:rPr sz="900" b="1">
                <a:solidFill>
                  <a:srgbClr val="AD1457"/>
                </a:solidFill>
                <a:latin typeface="微软雅黑"/>
                <a:ea typeface="微软雅黑"/>
              </a:rPr>
              <a:t>📤 输出</a:t>
            </a:r>
          </a:p>
          <a:p>
            <a:pPr algn="ctr"/>
            <a:r>
              <a:rPr sz="1000" b="1">
                <a:solidFill>
                  <a:srgbClr val="AD1457"/>
                </a:solidFill>
                <a:latin typeface="微软雅黑"/>
                <a:ea typeface="微软雅黑"/>
              </a:rPr>
              <a:t>[approved] / [rejected]
不再转回 skillopt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微软雅黑"/>
                <a:ea typeface="微软雅黑"/>
              </a:rPr>
              <a:t>↩  REJECTED 反馈：④ 裁判不通过时，打回 ② skillopt-01 重新修改（不触发 analysis，避免死循环）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10647.5" y="4709160"/>
            <a:ext cx="0.0" cy="36576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24247.5" y="5074920"/>
            <a:ext cx="5486400.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24247.5" y="4069080"/>
            <a:ext cx="0.0" cy="100584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Up Arrow 18"/>
          <p:cNvSpPr/>
          <p:nvPr/>
        </p:nvSpPr>
        <p:spPr>
          <a:xfrm>
            <a:off x="4632807" y="3977640"/>
            <a:ext cx="182880" cy="228600"/>
          </a:xfrm>
          <a:prstGeom prst="up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✅  成功路径：合入 main，Skill 升级生效       🔴  REJECTED 路径：打回 skillopt-01 重做（最多 N 轮）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