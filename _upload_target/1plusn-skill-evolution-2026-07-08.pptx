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91695" cy="1828800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515600" y="457200"/>
            <a:ext cx="1097280" cy="109728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548640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微软雅黑"/>
                <a:ea typeface="微软雅黑"/>
              </a:rPr>
              <a:t>1+N 数字员工框架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微软雅黑"/>
                <a:ea typeface="微软雅黑"/>
              </a:rPr>
              <a:t>Skill 自演进进展汇报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E3F2FD"/>
                </a:solidFill>
                <a:latin typeface="微软雅黑"/>
                <a:ea typeface="微软雅黑"/>
              </a:rPr>
              <a:t>v3 PR 闭环模式  ·  rev-01 v2 真实测试  ·  5 项关键修复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7607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微软雅黑"/>
                <a:ea typeface="微软雅黑"/>
              </a:rPr>
              <a:t>汇报人：1+N 框架团队        日期：2026-07-08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6126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E3F2FD"/>
                </a:solidFill>
                <a:latin typeface="微软雅黑"/>
                <a:ea typeface="微软雅黑"/>
              </a:rPr>
              <a:t>项目目录：D:/huawei/Demo/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目录 / 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757575"/>
                </a:solidFill>
                <a:latin typeface="微软雅黑"/>
                <a:ea typeface="微软雅黑"/>
              </a:rPr>
              <a:t>1+N 框架 · 内部汇报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757575"/>
                </a:solidFill>
                <a:latin typeface="微软雅黑"/>
                <a:ea typeface="微软雅黑"/>
              </a:rPr>
              <a:t>2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280160"/>
            <a:ext cx="640080" cy="457200"/>
          </a:xfrm>
          <a:prstGeom prst="rect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1280160"/>
            <a:ext cx="640080" cy="457200"/>
          </a:xfrm>
          <a:prstGeom prst="rect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000" bIns="36000"/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298448"/>
            <a:ext cx="3657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B2E59"/>
                </a:solidFill>
                <a:latin typeface="微软雅黑"/>
                <a:ea typeface="微软雅黑"/>
              </a:rPr>
              <a:t>汇报摘要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94960" y="1325880"/>
            <a:ext cx="6400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757575"/>
                </a:solidFill>
                <a:latin typeface="微软雅黑"/>
                <a:ea typeface="微软雅黑"/>
              </a:rPr>
              <a:t>本季度 Skill 自演进关键成果一览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1874519"/>
            <a:ext cx="640080" cy="457200"/>
          </a:xfrm>
          <a:prstGeom prst="rect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1874519"/>
            <a:ext cx="640080" cy="457200"/>
          </a:xfrm>
          <a:prstGeom prst="rect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000" bIns="36000"/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892807"/>
            <a:ext cx="3657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B2E59"/>
                </a:solidFill>
                <a:latin typeface="微软雅黑"/>
                <a:ea typeface="微软雅黑"/>
              </a:rPr>
              <a:t>1+N 团队全景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0" y="1920239"/>
            <a:ext cx="6400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757575"/>
                </a:solidFill>
                <a:latin typeface="微软雅黑"/>
                <a:ea typeface="微软雅黑"/>
              </a:rPr>
              <a:t>5 个数字员工角色与职责分工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2468880"/>
            <a:ext cx="640080" cy="457200"/>
          </a:xfrm>
          <a:prstGeom prst="rect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" y="2468880"/>
            <a:ext cx="640080" cy="457200"/>
          </a:xfrm>
          <a:prstGeom prst="rect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000" bIns="36000"/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2487168"/>
            <a:ext cx="3657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B2E59"/>
                </a:solidFill>
                <a:latin typeface="微软雅黑"/>
                <a:ea typeface="微软雅黑"/>
              </a:rPr>
              <a:t>进展一：四阶闭环 v3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60" y="2514600"/>
            <a:ext cx="6400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757575"/>
                </a:solidFill>
                <a:latin typeface="微软雅黑"/>
                <a:ea typeface="微软雅黑"/>
              </a:rPr>
              <a:t>Skill 修改从单向变闭环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3063240"/>
            <a:ext cx="640080" cy="457200"/>
          </a:xfrm>
          <a:prstGeom prst="rect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" y="3063240"/>
            <a:ext cx="640080" cy="457200"/>
          </a:xfrm>
          <a:prstGeom prst="rect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000" bIns="36000"/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3081528"/>
            <a:ext cx="3657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B2E59"/>
                </a:solidFill>
                <a:latin typeface="微软雅黑"/>
                <a:ea typeface="微软雅黑"/>
              </a:rPr>
              <a:t>进展二：dev-02 沙箱回归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4960" y="3108960"/>
            <a:ext cx="6400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757575"/>
                </a:solidFill>
                <a:latin typeface="微软雅黑"/>
                <a:ea typeface="微软雅黑"/>
              </a:rPr>
              <a:t>用真实制品量化 Skill 改动有效性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3657600"/>
            <a:ext cx="640080" cy="457200"/>
          </a:xfrm>
          <a:prstGeom prst="rect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400" y="3657600"/>
            <a:ext cx="640080" cy="457200"/>
          </a:xfrm>
          <a:prstGeom prst="rect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000" bIns="36000"/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3675888"/>
            <a:ext cx="3657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B2E59"/>
                </a:solidFill>
                <a:latin typeface="微软雅黑"/>
                <a:ea typeface="微软雅黑"/>
              </a:rPr>
              <a:t>进展三：rev-01 v2 升级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94960" y="3703320"/>
            <a:ext cx="6400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757575"/>
                </a:solidFill>
                <a:latin typeface="微软雅黑"/>
                <a:ea typeface="微软雅黑"/>
              </a:rPr>
              <a:t>审查员从「看报告」到「亲手测」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" y="4251960"/>
            <a:ext cx="640080" cy="457200"/>
          </a:xfrm>
          <a:prstGeom prst="rect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4400" y="4251960"/>
            <a:ext cx="640080" cy="457200"/>
          </a:xfrm>
          <a:prstGeom prst="rect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000" bIns="36000"/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37360" y="4270248"/>
            <a:ext cx="3657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B2E59"/>
                </a:solidFill>
                <a:latin typeface="微软雅黑"/>
                <a:ea typeface="微软雅黑"/>
              </a:rPr>
              <a:t>进展四：基础设施修复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94960" y="4297680"/>
            <a:ext cx="6400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757575"/>
                </a:solidFill>
                <a:latin typeface="微软雅黑"/>
                <a:ea typeface="微软雅黑"/>
              </a:rPr>
              <a:t>2026-07-07 同日完成的 5 项关键修复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4400" y="4846320"/>
            <a:ext cx="640080" cy="457200"/>
          </a:xfrm>
          <a:prstGeom prst="rect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14400" y="4846320"/>
            <a:ext cx="640080" cy="457200"/>
          </a:xfrm>
          <a:prstGeom prst="rect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000" bIns="36000"/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37360" y="4864608"/>
            <a:ext cx="3657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B2E59"/>
                </a:solidFill>
                <a:latin typeface="微软雅黑"/>
                <a:ea typeface="微软雅黑"/>
              </a:rPr>
              <a:t>框架总览图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94960" y="4892040"/>
            <a:ext cx="6400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757575"/>
                </a:solidFill>
                <a:latin typeface="微软雅黑"/>
                <a:ea typeface="微软雅黑"/>
              </a:rPr>
              <a:t>v3 PR 闭环模式全景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4400" y="5440679"/>
            <a:ext cx="640080" cy="457200"/>
          </a:xfrm>
          <a:prstGeom prst="rect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14400" y="5440679"/>
            <a:ext cx="640080" cy="457200"/>
          </a:xfrm>
          <a:prstGeom prst="rect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000" bIns="36000"/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737360" y="5458967"/>
            <a:ext cx="3657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B2E59"/>
                </a:solidFill>
                <a:latin typeface="微软雅黑"/>
                <a:ea typeface="微软雅黑"/>
              </a:rPr>
              <a:t>关键设计决策 &amp; 下一步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94960" y="5486399"/>
            <a:ext cx="6400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757575"/>
                </a:solidFill>
                <a:latin typeface="微软雅黑"/>
                <a:ea typeface="微软雅黑"/>
              </a:rPr>
              <a:t>为何不采用 SkillOpt 框架 / 后续计划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01  汇报摘要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757575"/>
                </a:solidFill>
                <a:latin typeface="微软雅黑"/>
                <a:ea typeface="微软雅黑"/>
              </a:rPr>
              <a:t>Skill 自演进从单向修改升级为四阶闭环 + 真实 UI 测试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757575"/>
                </a:solidFill>
                <a:latin typeface="微软雅黑"/>
                <a:ea typeface="微软雅黑"/>
              </a:rPr>
              <a:t>1+N 框架 · 内部汇报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757575"/>
                </a:solidFill>
                <a:latin typeface="微软雅黑"/>
                <a:ea typeface="微软雅黑"/>
              </a:rPr>
              <a:t>3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2743200" cy="365760"/>
          </a:xfrm>
          <a:prstGeom prst="rect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371600"/>
            <a:ext cx="2743200" cy="365760"/>
          </a:xfrm>
          <a:prstGeom prst="rect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000" bIns="36000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四阶闭环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37360"/>
            <a:ext cx="274320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B2E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82880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B2E59"/>
                </a:solidFill>
                <a:latin typeface="微软雅黑"/>
                <a:ea typeface="微软雅黑"/>
              </a:rPr>
              <a:t>v3 PR 模式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240280"/>
            <a:ext cx="2377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424242"/>
                </a:solidFill>
                <a:latin typeface="微软雅黑"/>
                <a:ea typeface="微软雅黑"/>
              </a:rPr>
              <a:t>分析 → 修改
→ 回归 → 裁判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11880" y="1371600"/>
            <a:ext cx="2743200" cy="365760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11880" y="1371600"/>
            <a:ext cx="2743200" cy="365760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000" bIns="36000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沙箱回归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11880" y="1737360"/>
            <a:ext cx="274320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E8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94760" y="182880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E88E5"/>
                </a:solidFill>
                <a:latin typeface="微软雅黑"/>
                <a:ea typeface="微软雅黑"/>
              </a:rPr>
              <a:t>dev-02 体系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2240280"/>
            <a:ext cx="2377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424242"/>
                </a:solidFill>
                <a:latin typeface="微软雅黑"/>
                <a:ea typeface="微软雅黑"/>
              </a:rPr>
              <a:t>复用 1+N agent
跑 12 个历史 issue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0" y="1371600"/>
            <a:ext cx="2743200" cy="365760"/>
          </a:xfrm>
          <a:prstGeom prst="rect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0" y="1371600"/>
            <a:ext cx="2743200" cy="365760"/>
          </a:xfrm>
          <a:prstGeom prst="rect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000" bIns="36000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真实测试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0" y="1737360"/>
            <a:ext cx="274320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65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0" y="182880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E65C00"/>
                </a:solidFill>
                <a:latin typeface="微软雅黑"/>
                <a:ea typeface="微软雅黑"/>
              </a:rPr>
              <a:t>rev-01 v2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2240280"/>
            <a:ext cx="2377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424242"/>
                </a:solidFill>
                <a:latin typeface="微软雅黑"/>
                <a:ea typeface="微软雅黑"/>
              </a:rPr>
              <a:t>亲手跑 UI
+ 8 张截图 + 3 dump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555480" y="1371600"/>
            <a:ext cx="2743200" cy="3657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555480" y="1371600"/>
            <a:ext cx="2743200" cy="3657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000" bIns="36000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5 项修复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55480" y="1737360"/>
            <a:ext cx="274320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38360" y="182880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C0392B"/>
                </a:solidFill>
                <a:latin typeface="微软雅黑"/>
                <a:ea typeface="微软雅黑"/>
              </a:rPr>
              <a:t>P0/P1 闭环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38360" y="2240280"/>
            <a:ext cx="2377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424242"/>
                </a:solidFill>
                <a:latin typeface="微软雅黑"/>
                <a:ea typeface="微软雅黑"/>
              </a:rPr>
              <a:t>SOUL 注入 / 超时
/ NameError / judge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3657600"/>
            <a:ext cx="10908792" cy="2286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379476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B2E59"/>
                </a:solidFill>
                <a:latin typeface="微软雅黑"/>
                <a:ea typeface="微软雅黑"/>
              </a:rPr>
              <a:t>🎯 核心价值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42062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424242"/>
                </a:solidFill>
                <a:latin typeface="微软雅黑"/>
                <a:ea typeface="微软雅黑"/>
              </a:rPr>
              <a:t>•  Skill 改动第一次有了「有效 vs 无效」的可量化裁判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45720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424242"/>
                </a:solidFill>
                <a:latin typeface="微软雅黑"/>
                <a:ea typeface="微软雅黑"/>
              </a:rPr>
              <a:t>•  dev-01 提交的代码必须保证在 DevEco 模拟器上真的能跑通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493776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424242"/>
                </a:solidFill>
                <a:latin typeface="微软雅黑"/>
                <a:ea typeface="微软雅黑"/>
              </a:rPr>
              <a:t>•  所有角色都是真实 agent —— 可监控、可查询、可审计、可回滚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53035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424242"/>
                </a:solidFill>
                <a:latin typeface="微软雅黑"/>
                <a:ea typeface="微软雅黑"/>
              </a:rPr>
              <a:t>•  拒绝 SkillOpt 框架：1+N 体系本身就是「人驱动的 SkillOpt」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02  1+N 团队全景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757575"/>
                </a:solidFill>
                <a:latin typeface="微软雅黑"/>
                <a:ea typeface="微软雅黑"/>
              </a:rPr>
              <a:t>5 个数字员工 + 独立 Hermes 进程 + 单一 SOUL 真理源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757575"/>
                </a:solidFill>
                <a:latin typeface="微软雅黑"/>
                <a:ea typeface="微软雅黑"/>
              </a:rPr>
              <a:t>1+N 框架 · 内部汇报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757575"/>
                </a:solidFill>
                <a:latin typeface="微软雅黑"/>
                <a:ea typeface="微软雅黑"/>
              </a:rPr>
              <a:t>4 / 12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280160"/>
          <a:ext cx="11247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103120"/>
                <a:gridCol w="1280160"/>
                <a:gridCol w="6400800"/>
              </a:tblGrid>
              <a:tr h="42672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角色</a:t>
                      </a:r>
                    </a:p>
                  </a:txBody>
                  <a:tcPr marL="72000" marR="72000" marT="36000" marB="36000" anchor="ctr">
                    <a:solidFill>
                      <a:srgbClr val="0B2E5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GitHub 账号</a:t>
                      </a:r>
                    </a:p>
                  </a:txBody>
                  <a:tcPr marL="72000" marR="72000" marT="36000" marB="36000" anchor="ctr">
                    <a:solidFill>
                      <a:srgbClr val="0B2E5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Gateway 端口</a:t>
                      </a:r>
                    </a:p>
                  </a:txBody>
                  <a:tcPr marL="72000" marR="72000" marT="36000" marB="36000" anchor="ctr">
                    <a:solidFill>
                      <a:srgbClr val="0B2E5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核心职责</a:t>
                      </a:r>
                    </a:p>
                  </a:txBody>
                  <a:tcPr marL="72000" marR="72000" marT="36000" marB="36000" anchor="ctr">
                    <a:solidFill>
                      <a:srgbClr val="0B2E59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424242"/>
                          </a:solidFill>
                          <a:latin typeface="微软雅黑"/>
                          <a:ea typeface="微软雅黑"/>
                        </a:rPr>
                        <a:t>dev-01</a:t>
                      </a:r>
                    </a:p>
                  </a:txBody>
                  <a:tcPr marL="72000" marR="72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424242"/>
                          </a:solidFill>
                          <a:latin typeface="微软雅黑"/>
                          <a:ea typeface="微软雅黑"/>
                        </a:rPr>
                        <a:t>littleleafccccc</a:t>
                      </a:r>
                    </a:p>
                  </a:txBody>
                  <a:tcPr marL="72000" marR="72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424242"/>
                          </a:solidFill>
                          <a:latin typeface="微软雅黑"/>
                          <a:ea typeface="微软雅黑"/>
                        </a:rPr>
                        <a:t>8100</a:t>
                      </a:r>
                    </a:p>
                  </a:txBody>
                  <a:tcPr marL="72000" marR="72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424242"/>
                          </a:solidFill>
                          <a:latin typeface="微软雅黑"/>
                          <a:ea typeface="微软雅黑"/>
                        </a:rPr>
                        <a:t>执行 AID-Workflow（PLANNING→IMPLEMENTING→APPLYING）</a:t>
                      </a:r>
                    </a:p>
                  </a:txBody>
                  <a:tcPr marL="72000" marR="72000" marT="36000" marB="36000" anchor="ctr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424242"/>
                          </a:solidFill>
                          <a:latin typeface="微软雅黑"/>
                          <a:ea typeface="微软雅黑"/>
                        </a:rPr>
                        <a:t>rev-01</a:t>
                      </a:r>
                    </a:p>
                  </a:txBody>
                  <a:tcPr marL="72000" marR="72000" marT="36000" marB="36000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424242"/>
                          </a:solidFill>
                          <a:latin typeface="微软雅黑"/>
                          <a:ea typeface="微软雅黑"/>
                        </a:rPr>
                        <a:t>littleleafbbbbb</a:t>
                      </a:r>
                    </a:p>
                  </a:txBody>
                  <a:tcPr marL="72000" marR="72000" marT="36000" marB="36000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424242"/>
                          </a:solidFill>
                          <a:latin typeface="微软雅黑"/>
                          <a:ea typeface="微软雅黑"/>
                        </a:rPr>
                        <a:t>8101</a:t>
                      </a:r>
                    </a:p>
                  </a:txBody>
                  <a:tcPr marL="72000" marR="72000" marT="36000" marB="36000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424242"/>
                          </a:solidFill>
                          <a:latin typeface="微软雅黑"/>
                          <a:ea typeface="微软雅黑"/>
                        </a:rPr>
                        <a:t>v2 起：亲手跑 UI 测试 + 构造补充用例 + 截图取证</a:t>
                      </a:r>
                    </a:p>
                  </a:txBody>
                  <a:tcPr marL="72000" marR="72000" marT="36000" marB="36000" anchor="ctr">
                    <a:solidFill>
                      <a:srgbClr val="F5F5F5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424242"/>
                          </a:solidFill>
                          <a:latin typeface="微软雅黑"/>
                          <a:ea typeface="微软雅黑"/>
                        </a:rPr>
                        <a:t>skillopt-01</a:t>
                      </a:r>
                    </a:p>
                  </a:txBody>
                  <a:tcPr marL="72000" marR="72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424242"/>
                          </a:solidFill>
                          <a:latin typeface="微软雅黑"/>
                          <a:ea typeface="微软雅黑"/>
                        </a:rPr>
                        <a:t>littleleafOptimizer</a:t>
                      </a:r>
                    </a:p>
                  </a:txBody>
                  <a:tcPr marL="72000" marR="72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424242"/>
                          </a:solidFill>
                          <a:latin typeface="微软雅黑"/>
                          <a:ea typeface="微软雅黑"/>
                        </a:rPr>
                        <a:t>8104</a:t>
                      </a:r>
                    </a:p>
                  </a:txBody>
                  <a:tcPr marL="72000" marR="72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424242"/>
                          </a:solidFill>
                          <a:latin typeface="微软雅黑"/>
                          <a:ea typeface="微软雅黑"/>
                        </a:rPr>
                        <a:t>根据 analysis 反馈修改 aid-workflow-skills</a:t>
                      </a:r>
                    </a:p>
                  </a:txBody>
                  <a:tcPr marL="72000" marR="72000" marT="36000" marB="36000" anchor="ctr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424242"/>
                          </a:solidFill>
                          <a:latin typeface="微软雅黑"/>
                          <a:ea typeface="微软雅黑"/>
                        </a:rPr>
                        <a:t>analysis</a:t>
                      </a:r>
                    </a:p>
                  </a:txBody>
                  <a:tcPr marL="72000" marR="72000" marT="36000" marB="36000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424242"/>
                          </a:solidFill>
                          <a:latin typeface="微软雅黑"/>
                          <a:ea typeface="微软雅黑"/>
                        </a:rPr>
                        <a:t>（内部账号）</a:t>
                      </a:r>
                    </a:p>
                  </a:txBody>
                  <a:tcPr marL="72000" marR="72000" marT="36000" marB="36000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424242"/>
                          </a:solidFill>
                          <a:latin typeface="微软雅黑"/>
                          <a:ea typeface="微软雅黑"/>
                        </a:rPr>
                        <a:t>—</a:t>
                      </a:r>
                    </a:p>
                  </a:txBody>
                  <a:tcPr marL="72000" marR="72000" marT="36000" marB="36000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424242"/>
                          </a:solidFill>
                          <a:latin typeface="微软雅黑"/>
                          <a:ea typeface="微软雅黑"/>
                        </a:rPr>
                        <a:t>闭环裁判：诊断 Skill 问题 + 判定回归结果</a:t>
                      </a:r>
                    </a:p>
                  </a:txBody>
                  <a:tcPr marL="72000" marR="72000" marT="36000" marB="36000" anchor="ctr">
                    <a:solidFill>
                      <a:srgbClr val="F5F5F5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424242"/>
                          </a:solidFill>
                          <a:latin typeface="微软雅黑"/>
                          <a:ea typeface="微软雅黑"/>
                        </a:rPr>
                        <a:t>dev-02</a:t>
                      </a:r>
                    </a:p>
                  </a:txBody>
                  <a:tcPr marL="72000" marR="72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424242"/>
                          </a:solidFill>
                          <a:latin typeface="微软雅黑"/>
                          <a:ea typeface="微软雅黑"/>
                        </a:rPr>
                        <a:t>littleleafaaaaa</a:t>
                      </a:r>
                    </a:p>
                  </a:txBody>
                  <a:tcPr marL="72000" marR="72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424242"/>
                          </a:solidFill>
                          <a:latin typeface="微软雅黑"/>
                          <a:ea typeface="微软雅黑"/>
                        </a:rPr>
                        <a:t>8105</a:t>
                      </a:r>
                    </a:p>
                  </a:txBody>
                  <a:tcPr marL="72000" marR="72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424242"/>
                          </a:solidFill>
                          <a:latin typeface="微软雅黑"/>
                          <a:ea typeface="微软雅黑"/>
                        </a:rPr>
                        <a:t>沙箱回归：用新 Skill 跑 12 个历史 issue</a:t>
                      </a:r>
                    </a:p>
                  </a:txBody>
                  <a:tcPr marL="72000" marR="72000" marT="36000" marB="36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41148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B2E59"/>
                </a:solidFill>
                <a:latin typeface="微软雅黑"/>
                <a:ea typeface="微软雅黑"/>
              </a:rPr>
              <a:t>📋 AID-Workflow 四阶段执行流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57200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 w="19050">
            <a:solidFill>
              <a:srgbClr val="0B2E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4645152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B2E59"/>
                </a:solidFill>
                <a:latin typeface="微软雅黑"/>
                <a:ea typeface="微软雅黑"/>
              </a:rPr>
              <a:t>PLANNING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029200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424242"/>
                </a:solidFill>
                <a:latin typeface="微软雅黑"/>
                <a:ea typeface="微软雅黑"/>
              </a:rPr>
              <a:t>产出 proposal / spec / design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063240" y="4892040"/>
            <a:ext cx="182880" cy="274320"/>
          </a:xfrm>
          <a:prstGeom prst="rightArrow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246120" y="457200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 w="19050">
            <a:solidFill>
              <a:srgbClr val="0B2E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37560" y="4645152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B2E59"/>
                </a:solidFill>
                <a:latin typeface="微软雅黑"/>
                <a:ea typeface="微软雅黑"/>
              </a:rPr>
              <a:t>IMPLEMENTING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5029200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424242"/>
                </a:solidFill>
                <a:latin typeface="微软雅黑"/>
                <a:ea typeface="微软雅黑"/>
              </a:rPr>
              <a:t>任务分解为 tasks.md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852160" y="4892040"/>
            <a:ext cx="182880" cy="274320"/>
          </a:xfrm>
          <a:prstGeom prst="rightArrow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035040" y="457200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E65C00"/>
          </a:solidFill>
          <a:ln w="19050">
            <a:solidFill>
              <a:srgbClr val="0B2E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4645152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APPLYING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5029200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424242"/>
                </a:solidFill>
                <a:latin typeface="微软雅黑"/>
                <a:ea typeface="微软雅黑"/>
              </a:rPr>
              <a:t>TDD 编码 + 编译 + 测试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641080" y="4892040"/>
            <a:ext cx="182880" cy="274320"/>
          </a:xfrm>
          <a:prstGeom prst="rightArrow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823960" y="457200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 w="19050">
            <a:solidFill>
              <a:srgbClr val="0B2E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15400" y="4645152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B2E59"/>
                </a:solidFill>
                <a:latin typeface="微软雅黑"/>
                <a:ea typeface="微软雅黑"/>
              </a:rPr>
              <a:t>ARCHIVE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5400" y="5029200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424242"/>
                </a:solidFill>
                <a:latin typeface="微软雅黑"/>
                <a:ea typeface="微软雅黑"/>
              </a:rPr>
              <a:t>归档到 specs/archives/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6692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757575"/>
                </a:solidFill>
                <a:latin typeface="微软雅黑"/>
                <a:ea typeface="微软雅黑"/>
              </a:rPr>
              <a:t>⚖️  内置 4 条铁律：build_hap.bat | TDD 不可跳 | UI 必跑 harmonyos-ui-test | apply-report 数据必须真实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03  进展一：四阶闭环 v3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757575"/>
                </a:solidFill>
                <a:latin typeface="微软雅黑"/>
                <a:ea typeface="微软雅黑"/>
              </a:rPr>
              <a:t>Skill 修改从单向链升级为「分析 → 修改 → 回归 → 裁判」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757575"/>
                </a:solidFill>
                <a:latin typeface="微软雅黑"/>
                <a:ea typeface="微软雅黑"/>
              </a:rPr>
              <a:t>1+N 框架 · 内部汇报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757575"/>
                </a:solidFill>
                <a:latin typeface="微软雅黑"/>
                <a:ea typeface="微软雅黑"/>
              </a:rPr>
              <a:t>5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447" y="1371600"/>
            <a:ext cx="2468880" cy="548640"/>
          </a:xfrm>
          <a:prstGeom prst="roundRect">
            <a:avLst>
              <a:gd name="adj" fmla="val 8000"/>
            </a:avLst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0887" y="141732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① 诊断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0887" y="1664208"/>
            <a:ext cx="2286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微软雅黑"/>
                <a:ea typeface="微软雅黑"/>
              </a:rPr>
              <a:t>by analysis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9447" y="1920240"/>
            <a:ext cx="2468880" cy="1645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65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6607" y="2011680"/>
            <a:ext cx="21945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E65C00"/>
                </a:solidFill>
                <a:latin typeface="微软雅黑"/>
                <a:ea typeface="微软雅黑"/>
              </a:rPr>
              <a:t>动作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6607" y="2240280"/>
            <a:ext cx="2194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424242"/>
                </a:solidFill>
                <a:latin typeface="微软雅黑"/>
                <a:ea typeface="微软雅黑"/>
              </a:rPr>
              <a:t>读 session + spec
+ rev-01 意见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6607" y="2880360"/>
            <a:ext cx="21945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E65C00"/>
                </a:solidFill>
                <a:latin typeface="微软雅黑"/>
                <a:ea typeface="微软雅黑"/>
              </a:rPr>
              <a:t>输出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6607" y="310896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424242"/>
                </a:solidFill>
                <a:latin typeface="微软雅黑"/>
                <a:ea typeface="微软雅黑"/>
              </a:rPr>
              <a:t>输出 diagnosis.json
+ label: skillopt:pending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124047" y="2377440"/>
            <a:ext cx="274320" cy="274320"/>
          </a:xfrm>
          <a:prstGeom prst="rightArrow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444087" y="1371600"/>
            <a:ext cx="2468880" cy="548640"/>
          </a:xfrm>
          <a:prstGeom prst="roundRect">
            <a:avLst>
              <a:gd name="adj" fmla="val 8000"/>
            </a:avLst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5527" y="141732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② 修改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5527" y="1664208"/>
            <a:ext cx="2286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微软雅黑"/>
                <a:ea typeface="微软雅黑"/>
              </a:rPr>
              <a:t>by skillopt-01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44087" y="1920240"/>
            <a:ext cx="2468880" cy="1645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E8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81247" y="2011680"/>
            <a:ext cx="21945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E88E5"/>
                </a:solidFill>
                <a:latin typeface="微软雅黑"/>
                <a:ea typeface="微软雅黑"/>
              </a:rPr>
              <a:t>动作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81247" y="2240280"/>
            <a:ext cx="2194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424242"/>
                </a:solidFill>
                <a:latin typeface="微软雅黑"/>
                <a:ea typeface="微软雅黑"/>
              </a:rPr>
              <a:t>改 aid-workflow-skills
开分支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81247" y="2880360"/>
            <a:ext cx="21945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E88E5"/>
                </a:solidFill>
                <a:latin typeface="微软雅黑"/>
                <a:ea typeface="微软雅黑"/>
              </a:rPr>
              <a:t>输出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81247" y="310896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424242"/>
                </a:solidFill>
                <a:latin typeface="微软雅黑"/>
                <a:ea typeface="微软雅黑"/>
              </a:rPr>
              <a:t>commit + 分支
+ [regression] issue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5958687" y="2377440"/>
            <a:ext cx="274320" cy="274320"/>
          </a:xfrm>
          <a:prstGeom prst="rightArrow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278727" y="1371600"/>
            <a:ext cx="2468880" cy="548640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70167" y="141732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③ 回归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70167" y="1664208"/>
            <a:ext cx="2286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微软雅黑"/>
                <a:ea typeface="微软雅黑"/>
              </a:rPr>
              <a:t>by dev-02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78727" y="1920240"/>
            <a:ext cx="2468880" cy="1645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15887" y="2011680"/>
            <a:ext cx="21945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E7D32"/>
                </a:solidFill>
                <a:latin typeface="微软雅黑"/>
                <a:ea typeface="微软雅黑"/>
              </a:rPr>
              <a:t>动作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15887" y="2240280"/>
            <a:ext cx="2194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424242"/>
                </a:solidFill>
                <a:latin typeface="微软雅黑"/>
                <a:ea typeface="微软雅黑"/>
              </a:rPr>
              <a:t>拉新 skill
跑完整 AID-Workflow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15887" y="2880360"/>
            <a:ext cx="21945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E7D32"/>
                </a:solidFill>
                <a:latin typeface="微软雅黑"/>
                <a:ea typeface="微软雅黑"/>
              </a:rPr>
              <a:t>输出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15887" y="310896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424242"/>
                </a:solidFill>
                <a:latin typeface="微软雅黑"/>
                <a:ea typeface="微软雅黑"/>
              </a:rPr>
              <a:t>新 spec/代码/测试
+ regression-done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8793327" y="2377440"/>
            <a:ext cx="274320" cy="274320"/>
          </a:xfrm>
          <a:prstGeom prst="rightArrow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113367" y="1371600"/>
            <a:ext cx="2468880" cy="548640"/>
          </a:xfrm>
          <a:prstGeom prst="roundRect">
            <a:avLst>
              <a:gd name="adj" fmla="val 8000"/>
            </a:avLst>
          </a:prstGeom>
          <a:solidFill>
            <a:srgbClr val="AD14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04807" y="141732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④ 裁判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04807" y="1664208"/>
            <a:ext cx="2286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微软雅黑"/>
                <a:ea typeface="微软雅黑"/>
              </a:rPr>
              <a:t>by analysis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13367" y="1920240"/>
            <a:ext cx="2468880" cy="1645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AD14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50527" y="2011680"/>
            <a:ext cx="21945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AD1457"/>
                </a:solidFill>
                <a:latin typeface="微软雅黑"/>
                <a:ea typeface="微软雅黑"/>
              </a:rPr>
              <a:t>动作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50527" y="2240280"/>
            <a:ext cx="2194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424242"/>
                </a:solidFill>
                <a:latin typeface="微软雅黑"/>
                <a:ea typeface="微软雅黑"/>
              </a:rPr>
              <a:t>对比新旧制品
判定有效性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50527" y="2880360"/>
            <a:ext cx="21945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AD1457"/>
                </a:solidFill>
                <a:latin typeface="微软雅黑"/>
                <a:ea typeface="微软雅黑"/>
              </a:rPr>
              <a:t>输出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50527" y="310896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424242"/>
                </a:solidFill>
                <a:latin typeface="微软雅黑"/>
                <a:ea typeface="微软雅黑"/>
              </a:rPr>
              <a:t>[approved] / [rejected]
不转回 skillopt-01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402336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C0392B"/>
                </a:solidFill>
                <a:latin typeface="微软雅黑"/>
                <a:ea typeface="微软雅黑"/>
              </a:rPr>
              <a:t>↩️  REJECTED 路径：裁判 → 打回 ② skillopt-01 重新修改（不触发 analysis，避免死循环）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4663440"/>
            <a:ext cx="11247120" cy="18288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47548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B2E59"/>
                </a:solidFill>
                <a:latin typeface="微软雅黑"/>
                <a:ea typeface="微软雅黑"/>
              </a:rPr>
              <a:t>🎯 关键价值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" y="5120640"/>
            <a:ext cx="10972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424242"/>
                </a:solidFill>
                <a:latin typeface="微软雅黑"/>
                <a:ea typeface="微软雅黑"/>
              </a:rPr>
              <a:t>•  Skill 改动第一次有了「有效 vs 无效」的可量化裁判
•  analysis 在 dev-02 路径上不再触发 skillopt-01，避免 skillopt → dev-02 → analysis → skillopt 死循环
•  从「人改 Skill 试试看」变成「Skill 改动必须通过真实制品验证才生效」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04  进展二：dev-02 沙箱回归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757575"/>
                </a:solidFill>
                <a:latin typeface="微软雅黑"/>
                <a:ea typeface="微软雅黑"/>
              </a:rPr>
              <a:t>复用 1+N 既有 agent 体系，开辟独立的回归沙箱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757575"/>
                </a:solidFill>
                <a:latin typeface="微软雅黑"/>
                <a:ea typeface="微软雅黑"/>
              </a:rPr>
              <a:t>1+N 框架 · 内部汇报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757575"/>
                </a:solidFill>
                <a:latin typeface="微软雅黑"/>
                <a:ea typeface="微软雅黑"/>
              </a:rPr>
              <a:t>6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B2E59"/>
                </a:solidFill>
                <a:latin typeface="微软雅黑"/>
                <a:ea typeface="微软雅黑"/>
              </a:rPr>
              <a:t>🆚 架构决策对比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737360"/>
          <a:ext cx="54864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2011680"/>
                <a:gridCol w="2286000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维度</a:t>
                      </a:r>
                    </a:p>
                  </a:txBody>
                  <a:tcPr marL="72000" marR="72000" marT="36000" marB="36000" anchor="ctr">
                    <a:solidFill>
                      <a:srgbClr val="0B2E5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传统 CI 方案</a:t>
                      </a:r>
                    </a:p>
                  </a:txBody>
                  <a:tcPr marL="72000" marR="72000" marT="36000" marB="36000" anchor="ctr">
                    <a:solidFill>
                      <a:srgbClr val="0B2E5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本框架方案（dev-02）</a:t>
                      </a:r>
                    </a:p>
                  </a:txBody>
                  <a:tcPr marL="72000" marR="72000" marT="36000" marB="36000" anchor="ctr">
                    <a:solidFill>
                      <a:srgbClr val="0B2E5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424242"/>
                          </a:solidFill>
                          <a:latin typeface="微软雅黑"/>
                          <a:ea typeface="微软雅黑"/>
                        </a:rPr>
                        <a:t>基础设施</a:t>
                      </a:r>
                    </a:p>
                  </a:txBody>
                  <a:tcPr marL="72000" marR="72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24242"/>
                          </a:solidFill>
                          <a:latin typeface="微软雅黑"/>
                          <a:ea typeface="微软雅黑"/>
                        </a:rPr>
                        <a:t>新开 GitHub Action runner</a:t>
                      </a:r>
                    </a:p>
                  </a:txBody>
                  <a:tcPr marL="72000" marR="72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24242"/>
                          </a:solidFill>
                          <a:latin typeface="微软雅黑"/>
                          <a:ea typeface="微软雅黑"/>
                        </a:rPr>
                        <a:t>复用 1+N 既有 agent</a:t>
                      </a:r>
                    </a:p>
                  </a:txBody>
                  <a:tcPr marL="72000" marR="72000" marT="36000" marB="3600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424242"/>
                          </a:solidFill>
                          <a:latin typeface="微软雅黑"/>
                          <a:ea typeface="微软雅黑"/>
                        </a:rPr>
                        <a:t>运行环境</a:t>
                      </a:r>
                    </a:p>
                  </a:txBody>
                  <a:tcPr marL="72000" marR="72000" marT="36000" marB="36000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24242"/>
                          </a:solidFill>
                          <a:latin typeface="微软雅黑"/>
                          <a:ea typeface="微软雅黑"/>
                        </a:rPr>
                        <a:t>Docker 容器 / VM</a:t>
                      </a:r>
                    </a:p>
                  </a:txBody>
                  <a:tcPr marL="72000" marR="72000" marT="36000" marB="36000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24242"/>
                          </a:solidFill>
                          <a:latin typeface="微软雅黑"/>
                          <a:ea typeface="微软雅黑"/>
                        </a:rPr>
                        <a:t>dev-02 独立 Hermes profile</a:t>
                      </a:r>
                    </a:p>
                  </a:txBody>
                  <a:tcPr marL="72000" marR="72000" marT="36000" marB="36000" anchor="ctr"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424242"/>
                          </a:solidFill>
                          <a:latin typeface="微软雅黑"/>
                          <a:ea typeface="微软雅黑"/>
                        </a:rPr>
                        <a:t>可监控性</a:t>
                      </a:r>
                    </a:p>
                  </a:txBody>
                  <a:tcPr marL="72000" marR="72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24242"/>
                          </a:solidFill>
                          <a:latin typeface="微软雅黑"/>
                          <a:ea typeface="微软雅黑"/>
                        </a:rPr>
                        <a:t>看 CI 日志</a:t>
                      </a:r>
                    </a:p>
                  </a:txBody>
                  <a:tcPr marL="72000" marR="72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24242"/>
                          </a:solidFill>
                          <a:latin typeface="微软雅黑"/>
                          <a:ea typeface="微软雅黑"/>
                        </a:rPr>
                        <a:t>实时查询 agent 状态</a:t>
                      </a:r>
                    </a:p>
                  </a:txBody>
                  <a:tcPr marL="72000" marR="72000" marT="36000" marB="3600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424242"/>
                          </a:solidFill>
                          <a:latin typeface="微软雅黑"/>
                          <a:ea typeface="微软雅黑"/>
                        </a:rPr>
                        <a:t>故障诊断</a:t>
                      </a:r>
                    </a:p>
                  </a:txBody>
                  <a:tcPr marL="72000" marR="72000" marT="36000" marB="36000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24242"/>
                          </a:solidFill>
                          <a:latin typeface="微软雅黑"/>
                          <a:ea typeface="微软雅黑"/>
                        </a:rPr>
                        <a:t>log diff</a:t>
                      </a:r>
                    </a:p>
                  </a:txBody>
                  <a:tcPr marL="72000" marR="72000" marT="36000" marB="36000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24242"/>
                          </a:solidFill>
                          <a:latin typeface="微软雅黑"/>
                          <a:ea typeface="微软雅黑"/>
                        </a:rPr>
                        <a:t>agent 反向推理 + 历史制品对比</a:t>
                      </a:r>
                    </a:p>
                  </a:txBody>
                  <a:tcPr marL="72000" marR="72000" marT="36000" marB="36000" anchor="ctr"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424242"/>
                          </a:solidFill>
                          <a:latin typeface="微软雅黑"/>
                          <a:ea typeface="微软雅黑"/>
                        </a:rPr>
                        <a:t>Skill 源</a:t>
                      </a:r>
                    </a:p>
                  </a:txBody>
                  <a:tcPr marL="72000" marR="72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24242"/>
                          </a:solidFill>
                          <a:latin typeface="微软雅黑"/>
                          <a:ea typeface="微软雅黑"/>
                        </a:rPr>
                        <a:t>直接 commit 触发</a:t>
                      </a:r>
                    </a:p>
                  </a:txBody>
                  <a:tcPr marL="72000" marR="72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24242"/>
                          </a:solidFill>
                          <a:latin typeface="微软雅黑"/>
                          <a:ea typeface="微软雅黑"/>
                        </a:rPr>
                        <a:t>拉 aid-workflow-skills 分支</a:t>
                      </a:r>
                    </a:p>
                  </a:txBody>
                  <a:tcPr marL="72000" marR="72000" marT="36000" marB="3600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424242"/>
                          </a:solidFill>
                          <a:latin typeface="微软雅黑"/>
                          <a:ea typeface="微软雅黑"/>
                        </a:rPr>
                        <a:t>维护成本</a:t>
                      </a:r>
                    </a:p>
                  </a:txBody>
                  <a:tcPr marL="72000" marR="72000" marT="36000" marB="36000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24242"/>
                          </a:solidFill>
                          <a:latin typeface="微软雅黑"/>
                          <a:ea typeface="微软雅黑"/>
                        </a:rPr>
                        <a:t>runner 进程要保活</a:t>
                      </a:r>
                    </a:p>
                  </a:txBody>
                  <a:tcPr marL="72000" marR="72000" marT="36000" marB="36000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24242"/>
                          </a:solidFill>
                          <a:latin typeface="微软雅黑"/>
                          <a:ea typeface="微软雅黑"/>
                        </a:rPr>
                        <a:t>无机器依赖，cron 触发</a:t>
                      </a:r>
                    </a:p>
                  </a:txBody>
                  <a:tcPr marL="72000" marR="72000" marT="36000" marB="36000"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40233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B2E59"/>
                </a:solidFill>
                <a:latin typeface="微软雅黑"/>
                <a:ea typeface="微软雅黑"/>
              </a:rPr>
              <a:t>📊 12 issue 回归集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434840"/>
            <a:ext cx="5486400" cy="210312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457200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424242"/>
                </a:solidFill>
                <a:latin typeface="微软雅黑"/>
                <a:ea typeface="微软雅黑"/>
              </a:rPr>
              <a:t>•  语料来源：worktrees/issue-N/ + specs/changes/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93776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424242"/>
                </a:solidFill>
                <a:latin typeface="微软雅黑"/>
                <a:ea typeface="微软雅黑"/>
              </a:rPr>
              <a:t>•  覆盖 10 个已完成需求（含 real-time-preview / QR share / unit conversion 等）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0352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424242"/>
                </a:solidFill>
                <a:latin typeface="微软雅黑"/>
                <a:ea typeface="微软雅黑"/>
              </a:rPr>
              <a:t>•  每个 issue 含：proposal / design / tasks / apply-report + 真实代码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66928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424242"/>
                </a:solidFill>
                <a:latin typeface="微软雅黑"/>
                <a:ea typeface="微软雅黑"/>
              </a:rPr>
              <a:t>•  回归产出：新 spec + 真实代码 + 测试报告（与历史制品逐项对比）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03504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424242"/>
                </a:solidFill>
                <a:latin typeface="微软雅黑"/>
                <a:ea typeface="微软雅黑"/>
              </a:rPr>
              <a:t>•  量化指标：compile_rate / test_rate / ui_rate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2801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B2E59"/>
                </a:solidFill>
                <a:latin typeface="微软雅黑"/>
                <a:ea typeface="微软雅黑"/>
              </a:rPr>
              <a:t>🔁 dev-02 触发流程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737360"/>
            <a:ext cx="320040" cy="32004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000" bIns="36000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178308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424242"/>
                </a:solidFill>
                <a:latin typeface="微软雅黑"/>
                <a:ea typeface="微软雅黑"/>
              </a:rPr>
              <a:t>1.  skillopt-01 合并 PR 到 aid-workflow-skills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1132820" y="2057400"/>
            <a:ext cx="0" cy="91440"/>
          </a:xfrm>
          <a:prstGeom prst="line">
            <a:avLst/>
          </a:prstGeom>
          <a:ln w="12700">
            <a:solidFill>
              <a:srgbClr val="7575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400800" y="2148840"/>
            <a:ext cx="320040" cy="32004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000" bIns="36000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21945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424242"/>
                </a:solidFill>
                <a:latin typeface="微软雅黑"/>
                <a:ea typeface="微软雅黑"/>
              </a:rPr>
              <a:t>2.  创建 [regression] issue 分配给 dev-02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1132820" y="2468880"/>
            <a:ext cx="0" cy="91440"/>
          </a:xfrm>
          <a:prstGeom prst="line">
            <a:avLst/>
          </a:prstGeom>
          <a:ln w="12700">
            <a:solidFill>
              <a:srgbClr val="7575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400800" y="2560320"/>
            <a:ext cx="320040" cy="32004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000" bIns="36000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60604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424242"/>
                </a:solidFill>
                <a:latin typeface="微软雅黑"/>
                <a:ea typeface="微软雅黑"/>
              </a:rPr>
              <a:t>3.  dev-02 cron (10min) 拉取最新 skill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1132820" y="2880360"/>
            <a:ext cx="0" cy="91440"/>
          </a:xfrm>
          <a:prstGeom prst="line">
            <a:avLst/>
          </a:prstGeom>
          <a:ln w="12700">
            <a:solidFill>
              <a:srgbClr val="7575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400800" y="2971800"/>
            <a:ext cx="320040" cy="32004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000" bIns="36000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301752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424242"/>
                </a:solidFill>
                <a:latin typeface="微软雅黑"/>
                <a:ea typeface="微软雅黑"/>
              </a:rPr>
              <a:t>4.  跑完整 AID-Workflow（重跑原 issue）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1132820" y="3291840"/>
            <a:ext cx="0" cy="91440"/>
          </a:xfrm>
          <a:prstGeom prst="line">
            <a:avLst/>
          </a:prstGeom>
          <a:ln w="12700">
            <a:solidFill>
              <a:srgbClr val="7575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400800" y="3383280"/>
            <a:ext cx="320040" cy="32004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000" bIns="36000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42900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424242"/>
                </a:solidFill>
                <a:latin typeface="微软雅黑"/>
                <a:ea typeface="微软雅黑"/>
              </a:rPr>
              <a:t>5.  产出报告 + label: regression-done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1132820" y="3703320"/>
            <a:ext cx="0" cy="91440"/>
          </a:xfrm>
          <a:prstGeom prst="line">
            <a:avLst/>
          </a:prstGeom>
          <a:ln w="12700">
            <a:solidFill>
              <a:srgbClr val="7575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6400800" y="3794760"/>
            <a:ext cx="320040" cy="32004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000" bIns="36000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384048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424242"/>
                </a:solidFill>
                <a:latin typeface="微软雅黑"/>
                <a:ea typeface="微软雅黑"/>
              </a:rPr>
              <a:t>6.  转交 analysis 裁判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1132820" y="4114800"/>
            <a:ext cx="0" cy="91440"/>
          </a:xfrm>
          <a:prstGeom prst="line">
            <a:avLst/>
          </a:prstGeom>
          <a:ln w="12700">
            <a:solidFill>
              <a:srgbClr val="7575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6400800" y="4206240"/>
            <a:ext cx="320040" cy="32004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000" bIns="36000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42519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424242"/>
                </a:solidFill>
                <a:latin typeface="微软雅黑"/>
                <a:ea typeface="微软雅黑"/>
              </a:rPr>
              <a:t>7.  analysis → [approved] / [rejected]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45720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B2E59"/>
                </a:solidFill>
                <a:latin typeface="微软雅黑"/>
                <a:ea typeface="微软雅黑"/>
              </a:rPr>
              <a:t>🔒 隔离保证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4937760"/>
            <a:ext cx="5486400" cy="15544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37960" y="502920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424242"/>
                </a:solidFill>
                <a:latin typeface="微软雅黑"/>
                <a:ea typeface="微软雅黑"/>
              </a:rPr>
              <a:t>•  Skill 源隔离：dev-02 拉 aid-workflow-skills，dev-01 用 calculatorHuawei/.claude/skills/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37960" y="534924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424242"/>
                </a:solidFill>
                <a:latin typeface="微软雅黑"/>
                <a:ea typeface="微软雅黑"/>
              </a:rPr>
              <a:t>•  身份隔离：dev-02 用新 GitHub PAT（littleleafaaaaa）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37960" y="566928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424242"/>
                </a:solidFill>
                <a:latin typeface="微软雅黑"/>
                <a:ea typeface="微软雅黑"/>
              </a:rPr>
              <a:t>•  进程隔离：独立 Hermes profile + Gateway port 8105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37960" y="5989319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424242"/>
                </a:solidFill>
                <a:latin typeface="微软雅黑"/>
                <a:ea typeface="微软雅黑"/>
              </a:rPr>
              <a:t>•  SOUL 隔离：dev-02-SOUL.md 明确角色为「regression runner」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05  进展三：rev-01 v2 升级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757575"/>
                </a:solidFill>
                <a:latin typeface="微软雅黑"/>
                <a:ea typeface="微软雅黑"/>
              </a:rPr>
              <a:t>审查员从「看 dev-01 报告」升级为「亲手跑 UI + 截图取证」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757575"/>
                </a:solidFill>
                <a:latin typeface="微软雅黑"/>
                <a:ea typeface="微软雅黑"/>
              </a:rPr>
              <a:t>1+N 框架 · 内部汇报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757575"/>
                </a:solidFill>
                <a:latin typeface="微软雅黑"/>
                <a:ea typeface="微软雅黑"/>
              </a:rPr>
              <a:t>7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B2E59"/>
                </a:solidFill>
                <a:latin typeface="微软雅黑"/>
                <a:ea typeface="微软雅黑"/>
              </a:rPr>
              <a:t>🆚 v1 vs v2 能力对比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600200"/>
          <a:ext cx="112471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114800"/>
                <a:gridCol w="5120640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维度</a:t>
                      </a:r>
                    </a:p>
                  </a:txBody>
                  <a:tcPr marL="72000" marR="72000" marT="36000" marB="36000" anchor="ctr">
                    <a:solidFill>
                      <a:srgbClr val="0B2E5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v1（改动前）</a:t>
                      </a:r>
                    </a:p>
                  </a:txBody>
                  <a:tcPr marL="72000" marR="72000" marT="36000" marB="36000" anchor="ctr">
                    <a:solidFill>
                      <a:srgbClr val="0B2E5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v2（当前）</a:t>
                      </a:r>
                    </a:p>
                  </a:txBody>
                  <a:tcPr marL="72000" marR="72000" marT="36000" marB="36000" anchor="ctr">
                    <a:solidFill>
                      <a:srgbClr val="0B2E5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424242"/>
                          </a:solidFill>
                          <a:latin typeface="微软雅黑"/>
                          <a:ea typeface="微软雅黑"/>
                        </a:rPr>
                        <a:t>SOUL.md</a:t>
                      </a:r>
                    </a:p>
                  </a:txBody>
                  <a:tcPr marL="72000" marR="72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24242"/>
                          </a:solidFill>
                          <a:latin typeface="微软雅黑"/>
                          <a:ea typeface="微软雅黑"/>
                        </a:rPr>
                        <a:t>15 行默认模板</a:t>
                      </a:r>
                    </a:p>
                  </a:txBody>
                  <a:tcPr marL="72000" marR="72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24242"/>
                          </a:solidFill>
                          <a:latin typeface="微软雅黑"/>
                          <a:ea typeface="微软雅黑"/>
                        </a:rPr>
                        <a:t>162 行，含 5 阶段工作流</a:t>
                      </a:r>
                    </a:p>
                  </a:txBody>
                  <a:tcPr marL="72000" marR="72000" marT="36000" marB="3600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424242"/>
                          </a:solidFill>
                          <a:latin typeface="微软雅黑"/>
                          <a:ea typeface="微软雅黑"/>
                        </a:rPr>
                        <a:t>UI 测试</a:t>
                      </a:r>
                    </a:p>
                  </a:txBody>
                  <a:tcPr marL="72000" marR="72000" marT="36000" marB="36000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24242"/>
                          </a:solidFill>
                          <a:latin typeface="微软雅黑"/>
                          <a:ea typeface="微软雅黑"/>
                        </a:rPr>
                        <a:t>只看 dev-01 的测试报告</a:t>
                      </a:r>
                    </a:p>
                  </a:txBody>
                  <a:tcPr marL="72000" marR="72000" marT="36000" marB="36000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24242"/>
                          </a:solidFill>
                          <a:latin typeface="微软雅黑"/>
                          <a:ea typeface="微软雅黑"/>
                        </a:rPr>
                        <a:t>亲手跑 harmonyos-ui-test skill + DevEco 模拟器</a:t>
                      </a:r>
                    </a:p>
                  </a:txBody>
                  <a:tcPr marL="72000" marR="72000" marT="36000" marB="36000" anchor="ctr"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424242"/>
                          </a:solidFill>
                          <a:latin typeface="微软雅黑"/>
                          <a:ea typeface="微软雅黑"/>
                        </a:rPr>
                        <a:t>测试用例</a:t>
                      </a:r>
                    </a:p>
                  </a:txBody>
                  <a:tcPr marL="72000" marR="72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24242"/>
                          </a:solidFill>
                          <a:latin typeface="微软雅黑"/>
                          <a:ea typeface="微软雅黑"/>
                        </a:rPr>
                        <a:t>只跑 dev-01 写的用例</a:t>
                      </a:r>
                    </a:p>
                  </a:txBody>
                  <a:tcPr marL="72000" marR="72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24242"/>
                          </a:solidFill>
                          <a:latin typeface="微软雅黑"/>
                          <a:ea typeface="微软雅黑"/>
                        </a:rPr>
                        <a:t>自构造 ≥ 8 个补充用例（边界/异常/状态/可访问性）</a:t>
                      </a:r>
                    </a:p>
                  </a:txBody>
                  <a:tcPr marL="72000" marR="72000" marT="36000" marB="3600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424242"/>
                          </a:solidFill>
                          <a:latin typeface="微软雅黑"/>
                          <a:ea typeface="微软雅黑"/>
                        </a:rPr>
                        <a:t>截图</a:t>
                      </a:r>
                    </a:p>
                  </a:txBody>
                  <a:tcPr marL="72000" marR="72000" marT="36000" marB="36000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24242"/>
                          </a:solidFill>
                          <a:latin typeface="微软雅黑"/>
                          <a:ea typeface="微软雅黑"/>
                        </a:rPr>
                        <a:t>复用 dev-01 的截图</a:t>
                      </a:r>
                    </a:p>
                  </a:txBody>
                  <a:tcPr marL="72000" marR="72000" marT="36000" marB="36000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24242"/>
                          </a:solidFill>
                          <a:latin typeface="微软雅黑"/>
                          <a:ea typeface="微软雅黑"/>
                        </a:rPr>
                        <a:t>自己重跑 ≥ 8 张截图，命名 issue-N-step-&lt;seq&gt;-&lt;state&gt;-&lt;ts&gt;.png</a:t>
                      </a:r>
                    </a:p>
                  </a:txBody>
                  <a:tcPr marL="72000" marR="72000" marT="36000" marB="36000" anchor="ctr"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424242"/>
                          </a:solidFill>
                          <a:latin typeface="微软雅黑"/>
                          <a:ea typeface="微软雅黑"/>
                        </a:rPr>
                        <a:t>uiautomator dump</a:t>
                      </a:r>
                    </a:p>
                  </a:txBody>
                  <a:tcPr marL="72000" marR="72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24242"/>
                          </a:solidFill>
                          <a:latin typeface="微软雅黑"/>
                          <a:ea typeface="微软雅黑"/>
                        </a:rPr>
                        <a:t>看 dev-01 的 dump</a:t>
                      </a:r>
                    </a:p>
                  </a:txBody>
                  <a:tcPr marL="72000" marR="72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24242"/>
                          </a:solidFill>
                          <a:latin typeface="微软雅黑"/>
                          <a:ea typeface="微软雅黑"/>
                        </a:rPr>
                        <a:t>自己 dump ≥ 3 份不同页面状态</a:t>
                      </a:r>
                    </a:p>
                  </a:txBody>
                  <a:tcPr marL="72000" marR="72000" marT="36000" marB="3600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424242"/>
                          </a:solidFill>
                          <a:latin typeface="微软雅黑"/>
                          <a:ea typeface="微软雅黑"/>
                        </a:rPr>
                        <a:t>模拟器不可用</a:t>
                      </a:r>
                    </a:p>
                  </a:txBody>
                  <a:tcPr marL="72000" marR="72000" marT="36000" marB="36000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24242"/>
                          </a:solidFill>
                          <a:latin typeface="微软雅黑"/>
                          <a:ea typeface="微软雅黑"/>
                        </a:rPr>
                        <a:t>直接跳过</a:t>
                      </a:r>
                    </a:p>
                  </a:txBody>
                  <a:tcPr marL="72000" marR="72000" marT="36000" marB="36000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24242"/>
                          </a:solidFill>
                          <a:latin typeface="微软雅黑"/>
                          <a:ea typeface="微软雅黑"/>
                        </a:rPr>
                        <a:t>attempt ≥ 3 次后才标 skipped（铁律 7）</a:t>
                      </a:r>
                    </a:p>
                  </a:txBody>
                  <a:tcPr marL="72000" marR="72000" marT="36000" marB="36000" anchor="ctr"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424242"/>
                          </a:solidFill>
                          <a:latin typeface="微软雅黑"/>
                          <a:ea typeface="微软雅黑"/>
                        </a:rPr>
                        <a:t>审查输出</a:t>
                      </a:r>
                    </a:p>
                  </a:txBody>
                  <a:tcPr marL="72000" marR="72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24242"/>
                          </a:solidFill>
                          <a:latin typeface="微软雅黑"/>
                          <a:ea typeface="微软雅黑"/>
                        </a:rPr>
                        <a:t>verdict + blocking</a:t>
                      </a:r>
                    </a:p>
                  </a:txBody>
                  <a:tcPr marL="72000" marR="72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24242"/>
                          </a:solidFill>
                          <a:latin typeface="微软雅黑"/>
                          <a:ea typeface="微软雅黑"/>
                        </a:rPr>
                        <a:t>JSON 含 ui_test_evidence 字段（test_cases_authored / passed / failed / screenshots）</a:t>
                      </a:r>
                    </a:p>
                  </a:txBody>
                  <a:tcPr marL="72000" marR="72000" marT="36000" marB="36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46634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B2E59"/>
                </a:solidFill>
                <a:latin typeface="微软雅黑"/>
                <a:ea typeface="微软雅黑"/>
              </a:rPr>
              <a:t>📋 5 阶段工作流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5074920"/>
            <a:ext cx="210312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65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5074920"/>
            <a:ext cx="2103120" cy="274320"/>
          </a:xfrm>
          <a:prstGeom prst="roundRect">
            <a:avLst>
              <a:gd name="adj" fmla="val 8000"/>
            </a:avLst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000" bIns="3600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阶段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367528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424242"/>
                </a:solidFill>
                <a:latin typeface="微软雅黑"/>
                <a:ea typeface="微软雅黑"/>
              </a:rPr>
              <a:t>读产物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577840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757575"/>
                </a:solidFill>
                <a:latin typeface="微软雅黑"/>
                <a:ea typeface="微软雅黑"/>
              </a:rPr>
              <a:t>5 min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514600" y="5394960"/>
            <a:ext cx="137160" cy="182880"/>
          </a:xfrm>
          <a:prstGeom prst="rightArrow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651760" y="5074920"/>
            <a:ext cx="210312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65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651760" y="5074920"/>
            <a:ext cx="2103120" cy="274320"/>
          </a:xfrm>
          <a:prstGeom prst="roundRect">
            <a:avLst>
              <a:gd name="adj" fmla="val 8000"/>
            </a:avLst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000" bIns="3600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阶段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5367528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424242"/>
                </a:solidFill>
                <a:latin typeface="微软雅黑"/>
                <a:ea typeface="微软雅黑"/>
              </a:rPr>
              <a:t>构造补充用例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5577840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757575"/>
                </a:solidFill>
                <a:latin typeface="微软雅黑"/>
                <a:ea typeface="微软雅黑"/>
              </a:rPr>
              <a:t>10 min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709160" y="5394960"/>
            <a:ext cx="137160" cy="182880"/>
          </a:xfrm>
          <a:prstGeom prst="rightArrow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846320" y="5074920"/>
            <a:ext cx="210312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65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846320" y="5074920"/>
            <a:ext cx="2103120" cy="274320"/>
          </a:xfrm>
          <a:prstGeom prst="roundRect">
            <a:avLst>
              <a:gd name="adj" fmla="val 8000"/>
            </a:avLst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000" bIns="3600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阶段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5367528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424242"/>
                </a:solidFill>
                <a:latin typeface="微软雅黑"/>
                <a:ea typeface="微软雅黑"/>
              </a:rPr>
              <a:t>亲手跑 UI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0" y="5577840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757575"/>
                </a:solidFill>
                <a:latin typeface="微软雅黑"/>
                <a:ea typeface="微软雅黑"/>
              </a:rPr>
              <a:t>15-30 min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6903720" y="5394960"/>
            <a:ext cx="137160" cy="182880"/>
          </a:xfrm>
          <a:prstGeom prst="rightArrow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040880" y="5074920"/>
            <a:ext cx="210312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65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040880" y="5074920"/>
            <a:ext cx="2103120" cy="274320"/>
          </a:xfrm>
          <a:prstGeom prst="roundRect">
            <a:avLst>
              <a:gd name="adj" fmla="val 8000"/>
            </a:avLst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000" bIns="3600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阶段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5367528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424242"/>
                </a:solidFill>
                <a:latin typeface="微软雅黑"/>
                <a:ea typeface="微软雅黑"/>
              </a:rPr>
              <a:t>对比制品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5577840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757575"/>
                </a:solidFill>
                <a:latin typeface="微软雅黑"/>
                <a:ea typeface="微软雅黑"/>
              </a:rPr>
              <a:t>5 min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9098280" y="5394960"/>
            <a:ext cx="137160" cy="182880"/>
          </a:xfrm>
          <a:prstGeom prst="rightArrow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235440" y="5074920"/>
            <a:ext cx="210312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65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235440" y="5074920"/>
            <a:ext cx="2103120" cy="274320"/>
          </a:xfrm>
          <a:prstGeom prst="roundRect">
            <a:avLst>
              <a:gd name="adj" fmla="val 8000"/>
            </a:avLst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000" bIns="3600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阶段 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0" y="5367528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424242"/>
                </a:solidFill>
                <a:latin typeface="微软雅黑"/>
                <a:ea typeface="微软雅黑"/>
              </a:rPr>
              <a:t>写 verdict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0" y="5577840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757575"/>
                </a:solidFill>
                <a:latin typeface="微软雅黑"/>
                <a:ea typeface="微软雅黑"/>
              </a:rPr>
              <a:t>5 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C0392B"/>
                </a:solidFill>
                <a:latin typeface="微软雅黑"/>
                <a:ea typeface="微软雅黑"/>
              </a:rPr>
              <a:t>🚫 硬规则：不准复用截图 / 不准跳过补充用例 / 不准伪造 UI 日志 / attempt≥3 次后才标 skipped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06  进展四：基础设施关键修复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757575"/>
                </a:solidFill>
                <a:latin typeface="微软雅黑"/>
                <a:ea typeface="微软雅黑"/>
              </a:rPr>
              <a:t>2026-07-07 同日完成 5 项 P0/P1 修复，让闭环真正能跑通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757575"/>
                </a:solidFill>
                <a:latin typeface="微软雅黑"/>
                <a:ea typeface="微软雅黑"/>
              </a:rPr>
              <a:t>1+N 框架 · 内部汇报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757575"/>
                </a:solidFill>
                <a:latin typeface="微软雅黑"/>
                <a:ea typeface="微软雅黑"/>
              </a:rPr>
              <a:t>8 / 12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280160"/>
          <a:ext cx="114300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1920240"/>
                <a:gridCol w="2011680"/>
                <a:gridCol w="3474720"/>
                <a:gridCol w="3383280"/>
              </a:tblGrid>
              <a:tr h="5334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#</a:t>
                      </a:r>
                    </a:p>
                  </a:txBody>
                  <a:tcPr marL="72000" marR="72000" marT="36000" marB="36000" anchor="ctr">
                    <a:solidFill>
                      <a:srgbClr val="0B2E5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修复</a:t>
                      </a:r>
                    </a:p>
                  </a:txBody>
                  <a:tcPr marL="72000" marR="72000" marT="36000" marB="36000" anchor="ctr">
                    <a:solidFill>
                      <a:srgbClr val="0B2E5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现象</a:t>
                      </a:r>
                    </a:p>
                  </a:txBody>
                  <a:tcPr marL="72000" marR="72000" marT="36000" marB="36000" anchor="ctr">
                    <a:solidFill>
                      <a:srgbClr val="0B2E5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根因</a:t>
                      </a:r>
                    </a:p>
                  </a:txBody>
                  <a:tcPr marL="72000" marR="72000" marT="36000" marB="36000" anchor="ctr">
                    <a:solidFill>
                      <a:srgbClr val="0B2E5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修复要点</a:t>
                      </a:r>
                    </a:p>
                  </a:txBody>
                  <a:tcPr marL="72000" marR="72000" marT="36000" marB="36000" anchor="ctr">
                    <a:solidFill>
                      <a:srgbClr val="0B2E59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424242"/>
                          </a:solidFill>
                          <a:latin typeface="微软雅黑"/>
                          <a:ea typeface="微软雅黑"/>
                        </a:rPr>
                        <a:t>P0</a:t>
                      </a:r>
                    </a:p>
                  </a:txBody>
                  <a:tcPr marL="72000" marR="72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24242"/>
                          </a:solidFill>
                          <a:latin typeface="微软雅黑"/>
                          <a:ea typeface="微软雅黑"/>
                        </a:rPr>
                        <a:t>SOUL.md 注入</a:t>
                      </a:r>
                    </a:p>
                  </a:txBody>
                  <a:tcPr marL="72000" marR="72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24242"/>
                          </a:solidFill>
                          <a:latin typeface="微软雅黑"/>
                          <a:ea typeface="微软雅黑"/>
                        </a:rPr>
                        <a:t>改 SOUL.md 不生效</a:t>
                      </a:r>
                    </a:p>
                  </a:txBody>
                  <a:tcPr marL="72000" marR="72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24242"/>
                          </a:solidFill>
                          <a:latin typeface="微软雅黑"/>
                          <a:ea typeface="微软雅黑"/>
                        </a:rPr>
                        <a:t>4 个 dispatcher 没把 SOUL 注入 system prompt</a:t>
                      </a:r>
                    </a:p>
                  </a:txBody>
                  <a:tcPr marL="72000" marR="72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24242"/>
                          </a:solidFill>
                          <a:latin typeface="微软雅黑"/>
                          <a:ea typeface="微软雅黑"/>
                        </a:rPr>
                        <a:t>claude --append-system-prompt + load_soul()</a:t>
                      </a:r>
                    </a:p>
                  </a:txBody>
                  <a:tcPr marL="72000" marR="72000" marT="36000" marB="36000"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424242"/>
                          </a:solidFill>
                          <a:latin typeface="微软雅黑"/>
                          <a:ea typeface="微软雅黑"/>
                        </a:rPr>
                        <a:t>P0</a:t>
                      </a:r>
                    </a:p>
                  </a:txBody>
                  <a:tcPr marL="72000" marR="72000" marT="36000" marB="36000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24242"/>
                          </a:solidFill>
                          <a:latin typeface="微软雅黑"/>
                          <a:ea typeface="微软雅黑"/>
                        </a:rPr>
                        <a:t>skillopt-01 超时</a:t>
                      </a:r>
                    </a:p>
                  </a:txBody>
                  <a:tcPr marL="72000" marR="72000" marT="36000" marB="36000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24242"/>
                          </a:solidFill>
                          <a:latin typeface="微软雅黑"/>
                          <a:ea typeface="微软雅黑"/>
                        </a:rPr>
                        <a:t>dispatch 一直 error</a:t>
                      </a:r>
                    </a:p>
                  </a:txBody>
                  <a:tcPr marL="72000" marR="72000" marT="36000" marB="36000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24242"/>
                          </a:solidFill>
                          <a:latin typeface="微软雅黑"/>
                          <a:ea typeface="微软雅黑"/>
                        </a:rPr>
                        <a:t>subprocess.run(timeout=600) 阻塞 10min 超过 cron 120s</a:t>
                      </a:r>
                    </a:p>
                  </a:txBody>
                  <a:tcPr marL="72000" marR="72000" marT="36000" marB="36000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24242"/>
                          </a:solidFill>
                          <a:latin typeface="微软雅黑"/>
                          <a:ea typeface="微软雅黑"/>
                        </a:rPr>
                        <a:t>Popen 非阻塞 + 3 状态机 + MAX_ISSUES=1</a:t>
                      </a:r>
                    </a:p>
                  </a:txBody>
                  <a:tcPr marL="72000" marR="72000" marT="36000" marB="36000" anchor="ctr">
                    <a:solidFill>
                      <a:srgbClr val="F5F5F5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424242"/>
                          </a:solidFill>
                          <a:latin typeface="微软雅黑"/>
                          <a:ea typeface="微软雅黑"/>
                        </a:rPr>
                        <a:t>P0</a:t>
                      </a:r>
                    </a:p>
                  </a:txBody>
                  <a:tcPr marL="72000" marR="72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24242"/>
                          </a:solidFill>
                          <a:latin typeface="微软雅黑"/>
                          <a:ea typeface="微软雅黑"/>
                        </a:rPr>
                        <a:t>dev-02 漏配</a:t>
                      </a:r>
                    </a:p>
                  </a:txBody>
                  <a:tcPr marL="72000" marR="72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24242"/>
                          </a:solidFill>
                          <a:latin typeface="微软雅黑"/>
                          <a:ea typeface="微软雅黑"/>
                        </a:rPr>
                        <a:t>issue #34 跑两次都阻塞</a:t>
                      </a:r>
                    </a:p>
                  </a:txBody>
                  <a:tcPr marL="72000" marR="72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24242"/>
                          </a:solidFill>
                          <a:latin typeface="微软雅黑"/>
                          <a:ea typeface="微软雅黑"/>
                        </a:rPr>
                        <a:t>v8 模板没应用到 dev-02（最新加入闭环，被漏）</a:t>
                      </a:r>
                    </a:p>
                  </a:txBody>
                  <a:tcPr marL="72000" marR="72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24242"/>
                          </a:solidFill>
                          <a:latin typeface="微软雅黑"/>
                          <a:ea typeface="微软雅黑"/>
                        </a:rPr>
                        <a:t>镜像 dev-01 模板：SOUL + SDK env + Popen</a:t>
                      </a:r>
                    </a:p>
                  </a:txBody>
                  <a:tcPr marL="72000" marR="72000" marT="36000" marB="36000"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424242"/>
                          </a:solidFill>
                          <a:latin typeface="微软雅黑"/>
                          <a:ea typeface="微软雅黑"/>
                        </a:rPr>
                        <a:t>P0</a:t>
                      </a:r>
                    </a:p>
                  </a:txBody>
                  <a:tcPr marL="72000" marR="72000" marT="36000" marB="36000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24242"/>
                          </a:solidFill>
                          <a:latin typeface="微软雅黑"/>
                          <a:ea typeface="微软雅黑"/>
                        </a:rPr>
                        <a:t>analysis judge 3 bug</a:t>
                      </a:r>
                    </a:p>
                  </a:txBody>
                  <a:tcPr marL="72000" marR="72000" marT="36000" marB="36000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24242"/>
                          </a:solidFill>
                          <a:latin typeface="微软雅黑"/>
                          <a:ea typeface="微软雅黑"/>
                        </a:rPr>
                        <a:t>verdict 永远 UNKNOWN</a:t>
                      </a:r>
                    </a:p>
                  </a:txBody>
                  <a:tcPr marL="72000" marR="72000" marT="36000" marB="36000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24242"/>
                          </a:solidFill>
                          <a:latin typeface="微软雅黑"/>
                          <a:ea typeface="微软雅黑"/>
                        </a:rPr>
                        <a:t>① comments 顺序 ② verdict 兜底源 ③ labels 未透传</a:t>
                      </a:r>
                    </a:p>
                  </a:txBody>
                  <a:tcPr marL="72000" marR="72000" marT="36000" marB="36000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24242"/>
                          </a:solidFill>
                          <a:latin typeface="微软雅黑"/>
                          <a:ea typeface="微软雅黑"/>
                        </a:rPr>
                        <a:t>倒序取最新 + verdict 读 diagnosis.json + labels 透传</a:t>
                      </a:r>
                    </a:p>
                  </a:txBody>
                  <a:tcPr marL="72000" marR="72000" marT="36000" marB="36000" anchor="ctr">
                    <a:solidFill>
                      <a:srgbClr val="F5F5F5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424242"/>
                          </a:solidFill>
                          <a:latin typeface="微软雅黑"/>
                          <a:ea typeface="微软雅黑"/>
                        </a:rPr>
                        <a:t>P1</a:t>
                      </a:r>
                    </a:p>
                  </a:txBody>
                  <a:tcPr marL="72000" marR="72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24242"/>
                          </a:solidFill>
                          <a:latin typeface="微软雅黑"/>
                          <a:ea typeface="微软雅黑"/>
                        </a:rPr>
                        <a:t>finalize NameError</a:t>
                      </a:r>
                    </a:p>
                  </a:txBody>
                  <a:tcPr marL="72000" marR="72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24242"/>
                          </a:solidFill>
                          <a:latin typeface="微软雅黑"/>
                          <a:ea typeface="微软雅黑"/>
                        </a:rPr>
                        <a:t>finalize 连续 4 次失败</a:t>
                      </a:r>
                    </a:p>
                  </a:txBody>
                  <a:tcPr marL="72000" marR="72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24242"/>
                          </a:solidFill>
                          <a:latin typeface="微软雅黑"/>
                          <a:ea typeface="微软雅黑"/>
                        </a:rPr>
                        <a:t>build_diagnosis_comment L853 笔误 data → diagnosis</a:t>
                      </a:r>
                    </a:p>
                  </a:txBody>
                  <a:tcPr marL="72000" marR="72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24242"/>
                          </a:solidFill>
                          <a:latin typeface="微软雅黑"/>
                          <a:ea typeface="微软雅黑"/>
                        </a:rPr>
                        <a:t>1 行修复：data → diagnosis</a:t>
                      </a:r>
                    </a:p>
                  </a:txBody>
                  <a:tcPr marL="72000" marR="72000" marT="36000" marB="36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365760" y="4754880"/>
            <a:ext cx="11430000" cy="17373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48463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B2E59"/>
                </a:solidFill>
                <a:latin typeface="微软雅黑"/>
                <a:ea typeface="微软雅黑"/>
              </a:rPr>
              <a:t>💡 修复带来的能力提升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21208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424242"/>
                </a:solidFill>
                <a:latin typeface="微软雅黑"/>
                <a:ea typeface="微软雅黑"/>
              </a:rPr>
              <a:t>•  改 SOUL.md 真的生效：dispatch 链路全部接上 --append-system-prompt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50468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424242"/>
                </a:solidFill>
                <a:latin typeface="微软雅黑"/>
                <a:ea typeface="微软雅黑"/>
              </a:rPr>
              <a:t>•  skillopt-01 不再 timeout：Popen 非阻塞 + 状态机让 cron 稳定触发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797296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424242"/>
                </a:solidFill>
                <a:latin typeface="微软雅黑"/>
                <a:ea typeface="微软雅黑"/>
              </a:rPr>
              <a:t>•  dev-02 真的能跑通：issue #34 产出 BUILD SUCCESSFUL + 7/7 Node + 5/5 UI 测试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089904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424242"/>
                </a:solidFill>
                <a:latin typeface="微软雅黑"/>
                <a:ea typeface="微软雅黑"/>
              </a:rPr>
              <a:t>•  analysis 闭环正确：regression-done 路径给 [approved] verdict，不再误转 skillopt-01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07  框架总览图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757575"/>
                </a:solidFill>
                <a:latin typeface="微软雅黑"/>
                <a:ea typeface="微软雅黑"/>
              </a:rPr>
              <a:t>v3 PR 闭环模式全景（从触发到生效）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757575"/>
                </a:solidFill>
                <a:latin typeface="微软雅黑"/>
                <a:ea typeface="微软雅黑"/>
              </a:rPr>
              <a:t>1+N 框架 · 内部汇报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757575"/>
                </a:solidFill>
                <a:latin typeface="微软雅黑"/>
                <a:ea typeface="微软雅黑"/>
              </a:rPr>
              <a:t>9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16144" y="3200400"/>
            <a:ext cx="2560320" cy="1280160"/>
          </a:xfrm>
          <a:prstGeom prst="roundRect">
            <a:avLst>
              <a:gd name="adj" fmla="val 30000"/>
            </a:avLst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816144" y="3200400"/>
            <a:ext cx="2560320" cy="1280160"/>
          </a:xfrm>
          <a:prstGeom prst="roundRect">
            <a:avLst>
              <a:gd name="adj" fmla="val 8000"/>
            </a:avLst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000" bIns="36000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Skill 自演化
四阶闭环 v3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1463040"/>
            <a:ext cx="2743200" cy="1463040"/>
          </a:xfrm>
          <a:prstGeom prst="roundRect">
            <a:avLst>
              <a:gd name="adj" fmla="val 15000"/>
            </a:avLst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① analysis 诊断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微软雅黑"/>
                <a:ea typeface="微软雅黑"/>
              </a:rPr>
              <a:t>读 session + spec + rev-01 意见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→ diagnosis.json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1463040"/>
            <a:ext cx="2743200" cy="1463040"/>
          </a:xfrm>
          <a:prstGeom prst="roundRect">
            <a:avLst>
              <a:gd name="adj" fmla="val 15000"/>
            </a:avLst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② skillopt-01 改 skill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微软雅黑"/>
                <a:ea typeface="微软雅黑"/>
              </a:rPr>
              <a:t>改 aid-workflow-skills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→ commit + 分支 + [regression] issue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4572000"/>
            <a:ext cx="2743200" cy="1463040"/>
          </a:xfrm>
          <a:prstGeom prst="roundRect">
            <a:avLst>
              <a:gd name="adj" fmla="val 15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③ dev-02 沙箱回归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微软雅黑"/>
                <a:ea typeface="微软雅黑"/>
              </a:rPr>
              <a:t>拉新 skill + 跑完整 AID-Workflow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→ 新制品 + regression-done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4572000"/>
            <a:ext cx="2743200" cy="1463040"/>
          </a:xfrm>
          <a:prstGeom prst="roundRect">
            <a:avLst>
              <a:gd name="adj" fmla="val 15000"/>
            </a:avLst>
          </a:prstGeom>
          <a:solidFill>
            <a:srgbClr val="AD14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④ analysis 裁判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微软雅黑"/>
                <a:ea typeface="微软雅黑"/>
              </a:rPr>
              <a:t>对比新旧制品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→ [approved] / [rejected]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931920" y="2011680"/>
            <a:ext cx="4114800" cy="274320"/>
          </a:xfrm>
          <a:prstGeom prst="rightArrow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own Arrow 13"/>
          <p:cNvSpPr/>
          <p:nvPr/>
        </p:nvSpPr>
        <p:spPr>
          <a:xfrm>
            <a:off x="9509760" y="3108960"/>
            <a:ext cx="274320" cy="1280160"/>
          </a:xfrm>
          <a:prstGeom prst="downArrow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ight Arrow 14"/>
          <p:cNvSpPr/>
          <p:nvPr/>
        </p:nvSpPr>
        <p:spPr>
          <a:xfrm>
            <a:off x="3931920" y="5166360"/>
            <a:ext cx="4114800" cy="274320"/>
          </a:xfrm>
          <a:prstGeom prst="rightArrow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Up Arrow 15"/>
          <p:cNvSpPr/>
          <p:nvPr/>
        </p:nvSpPr>
        <p:spPr>
          <a:xfrm>
            <a:off x="2286000" y="3108960"/>
            <a:ext cx="274320" cy="1280160"/>
          </a:xfrm>
          <a:prstGeom prst="upArrow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356616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C0392B"/>
                </a:solidFill>
                <a:latin typeface="微软雅黑"/>
                <a:ea typeface="微软雅黑"/>
              </a:rPr>
              <a:t>REJECTED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424242"/>
                </a:solidFill>
                <a:latin typeface="微软雅黑"/>
                <a:ea typeface="微软雅黑"/>
              </a:rPr>
              <a:t>🟢 实线箭头 = 正向流转（成功路径）  ·  🔴 红色箭头 = REJECTED 反向路径（打回 skillopt-01 重做）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08  关键设计决策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757575"/>
                </a:solidFill>
                <a:latin typeface="微软雅黑"/>
                <a:ea typeface="微软雅黑"/>
              </a:rPr>
              <a:t>为何这样设计？4 个备查要点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757575"/>
                </a:solidFill>
                <a:latin typeface="微软雅黑"/>
                <a:ea typeface="微软雅黑"/>
              </a:rPr>
              <a:t>1+N 框架 · 内部汇报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757575"/>
                </a:solidFill>
                <a:latin typeface="微软雅黑"/>
                <a:ea typeface="微软雅黑"/>
              </a:rPr>
              <a:t>10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640080" cy="1143000"/>
          </a:xfrm>
          <a:prstGeom prst="rect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640080" cy="1143000"/>
          </a:xfrm>
          <a:prstGeom prst="rect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000" bIns="36000"/>
          <a:lstStyle/>
          <a:p>
            <a:pPr algn="ctr"/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28016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B2E59"/>
                </a:solidFill>
                <a:latin typeface="微软雅黑"/>
                <a:ea typeface="微软雅黑"/>
              </a:rPr>
              <a:t>不采用 SkillOpt 框架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645919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424242"/>
                </a:solidFill>
                <a:latin typeface="微软雅黑"/>
                <a:ea typeface="微软雅黑"/>
              </a:rPr>
              <a:t>microsoft/SkillOpt 是 LLM 训练循环框架。我们已有 1+N 体系（3 agent + skillopt-01）本质就是「人驱动的 SkillOpt」—— 慢但可解释、多视角交叉验证、与生产端同栈零迁移成本。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148839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B2E59"/>
                </a:solidFill>
                <a:latin typeface="微软雅黑"/>
                <a:ea typeface="微软雅黑"/>
              </a:rPr>
              <a:t>→ 维持 1+N 现状，按 v3 PR 闭环迭代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514600"/>
            <a:ext cx="640080" cy="1143000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514600"/>
            <a:ext cx="640080" cy="1143000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000" bIns="36000"/>
          <a:lstStyle/>
          <a:p>
            <a:pPr algn="ctr"/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5146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E88E5"/>
                </a:solidFill>
                <a:latin typeface="微软雅黑"/>
                <a:ea typeface="微软雅黑"/>
              </a:rPr>
              <a:t>dev-02 复用 1+N 基础设施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2880360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424242"/>
                </a:solidFill>
                <a:latin typeface="微软雅黑"/>
                <a:ea typeface="微软雅黑"/>
              </a:rPr>
              <a:t>新开 GitHub Action runner 需要保活进程、维护 runner 镜像；复用现有 agent 体系 = 可监控、可查询、可调试，与 dev-01 同栈同 SOUL 模板。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38328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E88E5"/>
                </a:solidFill>
                <a:latin typeface="微软雅黑"/>
                <a:ea typeface="微软雅黑"/>
              </a:rPr>
              <a:t>→ 独立 Hermes profile + 独立 PAT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749039"/>
            <a:ext cx="640080" cy="11430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749039"/>
            <a:ext cx="640080" cy="11430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000" bIns="36000"/>
          <a:lstStyle/>
          <a:p>
            <a:pPr algn="ctr"/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749039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E7D32"/>
                </a:solidFill>
                <a:latin typeface="微软雅黑"/>
                <a:ea typeface="微软雅黑"/>
              </a:rPr>
              <a:t>Skill 源严格隔离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114800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424242"/>
                </a:solidFill>
                <a:latin typeface="微软雅黑"/>
                <a:ea typeface="微软雅黑"/>
              </a:rPr>
              <a:t>dev-02 必须从 aid-workflow-skills 仓拉取测试 skill，不能复用 dev-01 的生产 skill (calculatorHuawei/.claude/skills/)。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61772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E7D32"/>
                </a:solidFill>
                <a:latin typeface="微软雅黑"/>
                <a:ea typeface="微软雅黑"/>
              </a:rPr>
              <a:t>→ 防止测试污染生产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983479"/>
            <a:ext cx="640080" cy="1143000"/>
          </a:xfrm>
          <a:prstGeom prst="rect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4983479"/>
            <a:ext cx="640080" cy="1143000"/>
          </a:xfrm>
          <a:prstGeom prst="rect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000" bIns="36000"/>
          <a:lstStyle/>
          <a:p>
            <a:pPr algn="ctr"/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4983479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E65C00"/>
                </a:solidFill>
                <a:latin typeface="微软雅黑"/>
                <a:ea typeface="微软雅黑"/>
              </a:rPr>
              <a:t>analysis 闭环不再回转 skillopt-01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5349240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424242"/>
                </a:solidFill>
                <a:latin typeface="微软雅黑"/>
                <a:ea typeface="微软雅黑"/>
              </a:rPr>
              <a:t>如果 analysis 在 dev-02 回归后把 REQUEST_CHANGES 转回 skillopt-01，会形成 skillopt → dev-02 → analysis → skillopt 死循环。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5852159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65C00"/>
                </a:solidFill>
                <a:latin typeface="微软雅黑"/>
                <a:ea typeface="微软雅黑"/>
              </a:rPr>
              <a:t>→ 闭环裁判只给 verdict，由人决定是否再开 PR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09  下一步计划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757575"/>
                </a:solidFill>
                <a:latin typeface="微软雅黑"/>
                <a:ea typeface="微软雅黑"/>
              </a:rPr>
              <a:t>短期验证 + 中期基线 + 长期治理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757575"/>
                </a:solidFill>
                <a:latin typeface="微软雅黑"/>
                <a:ea typeface="微软雅黑"/>
              </a:rPr>
              <a:t>1+N 框架 · 内部汇报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757575"/>
                </a:solidFill>
                <a:latin typeface="微软雅黑"/>
                <a:ea typeface="微软雅黑"/>
              </a:rPr>
              <a:t>11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274320" cy="15544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28016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C0392B"/>
                </a:solidFill>
                <a:latin typeface="微软雅黑"/>
                <a:ea typeface="微软雅黑"/>
              </a:rPr>
              <a:t>短期（1-2 周）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645919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B2E59"/>
                </a:solidFill>
                <a:latin typeface="微软雅黑"/>
                <a:ea typeface="微软雅黑"/>
              </a:rPr>
              <a:t>跑通首个完整 v3 闭环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5740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424242"/>
                </a:solidFill>
                <a:latin typeface="微软雅黑"/>
                <a:ea typeface="微软雅黑"/>
              </a:rPr>
              <a:t>•  issue #34 走完 analysis → skillopt → dev-02 → analysis 裁判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0428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424242"/>
                </a:solidFill>
                <a:latin typeface="微软雅黑"/>
                <a:ea typeface="微软雅黑"/>
              </a:rPr>
              <a:t>•  验证 analysis 闭环只 judge、不转回 skillopt-01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55117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424242"/>
                </a:solidFill>
                <a:latin typeface="微软雅黑"/>
                <a:ea typeface="微软雅黑"/>
              </a:rPr>
              <a:t>•  监控 4 dispatcher × 10min 频率的 cron 稳定性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926080"/>
            <a:ext cx="274320" cy="1554480"/>
          </a:xfrm>
          <a:prstGeom prst="rect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92608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5C00"/>
                </a:solidFill>
                <a:latin typeface="微软雅黑"/>
                <a:ea typeface="微软雅黑"/>
              </a:rPr>
              <a:t>中期（1 个月）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2918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B2E59"/>
                </a:solidFill>
                <a:latin typeface="微软雅黑"/>
                <a:ea typeface="微软雅黑"/>
              </a:rPr>
              <a:t>采集 12 issue 回归基线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70332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424242"/>
                </a:solidFill>
                <a:latin typeface="微软雅黑"/>
                <a:ea typeface="微软雅黑"/>
              </a:rPr>
              <a:t>•  compile_rate / test_rate / ui_rate 三个量化指标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95020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424242"/>
                </a:solidFill>
                <a:latin typeface="微软雅黑"/>
                <a:ea typeface="微软雅黑"/>
              </a:rPr>
              <a:t>•  与历史制品逐项对比，建立「通过/失败」分类标准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19709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424242"/>
                </a:solidFill>
                <a:latin typeface="微软雅黑"/>
                <a:ea typeface="微软雅黑"/>
              </a:rPr>
              <a:t>•  输出第一份基线报告，作为后续 Skill 改动的判据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572000"/>
            <a:ext cx="274320" cy="155448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57200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E7D32"/>
                </a:solidFill>
                <a:latin typeface="微软雅黑"/>
                <a:ea typeface="微软雅黑"/>
              </a:rPr>
              <a:t>长期（季度）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93776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B2E59"/>
                </a:solidFill>
                <a:latin typeface="微软雅黑"/>
                <a:ea typeface="微软雅黑"/>
              </a:rPr>
              <a:t>推进 SOUL 单一真理源 + 治理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34924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424242"/>
                </a:solidFill>
                <a:latin typeface="微软雅黑"/>
                <a:ea typeface="微软雅黑"/>
              </a:rPr>
              <a:t>•  所有 dispatcher 统一读 agents/&lt;agent&gt;-SOUL.md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596127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424242"/>
                </a:solidFill>
                <a:latin typeface="微软雅黑"/>
                <a:ea typeface="微软雅黑"/>
              </a:rPr>
              <a:t>•  推进 Skill 改动审计日志（每次改动的 diagnosis + verdict 留痕）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84301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424242"/>
                </a:solidFill>
                <a:latin typeface="微软雅黑"/>
                <a:ea typeface="微软雅黑"/>
              </a:rPr>
              <a:t>•  将闭环流程固化到 AID-Workflow 的 aid-planning skill 中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058400" y="457200"/>
            <a:ext cx="1371600" cy="13716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50000"/>
            </a:avLst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698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微软雅黑"/>
                <a:ea typeface="微软雅黑"/>
              </a:rPr>
              <a:t>Skill 自演进闭环 = 让 1+N 框架自我进化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34640"/>
            <a:ext cx="10698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E3F2FD"/>
                </a:solidFill>
                <a:latin typeface="微软雅黑"/>
                <a:ea typeface="微软雅黑"/>
              </a:rPr>
              <a:t>从「人改 Skill 试试看」到「Skill 改动必须通过真实制品验证才生效」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404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微软雅黑"/>
                <a:ea typeface="微软雅黑"/>
              </a:rPr>
              <a:t>✅  v3 PR 闭环已落地：分析 → 修改 → 回归 → 裁判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2976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微软雅黑"/>
                <a:ea typeface="微软雅黑"/>
              </a:rPr>
              <a:t>✅  rev-01 v2 已上线：真实 UI 测试 + 截图取证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7548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微软雅黑"/>
                <a:ea typeface="微软雅黑"/>
              </a:rPr>
              <a:t>✅  5 项基础设施修复已完成：闭环可执行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48640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Q &amp; 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08076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E3F2FD"/>
                </a:solidFill>
                <a:latin typeface="微软雅黑"/>
                <a:ea typeface="微软雅黑"/>
              </a:rPr>
              <a:t>感谢聆听 · 1+N 框架团队 · D:/huawei/Demo/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