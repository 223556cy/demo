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63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F3A68"/>
                </a:solidFill>
              </a:defRPr>
            </a:pPr>
            <a:r>
              <a:t>Agent 运行根因定位方案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B7280"/>
                </a:solidFill>
              </a:defRPr>
            </a:pPr>
            <a:r>
              <a:t>基于因果图的回溯分析  ·  5Why + CAE 推理方法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18288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22634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F3A68"/>
                </a:solidFill>
              </a:defRPr>
            </a:pPr>
            <a:r>
              <a:t>① 因果图节点层级  (Causal Graph)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1664208"/>
            <a:ext cx="274320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🎯  用户需求 / 目标</a:t>
            </a:r>
          </a:p>
        </p:txBody>
      </p:sp>
      <p:sp>
        <p:nvSpPr>
          <p:cNvPr id="7" name="Down Arrow 6"/>
          <p:cNvSpPr/>
          <p:nvPr/>
        </p:nvSpPr>
        <p:spPr>
          <a:xfrm>
            <a:off x="2697480" y="2121408"/>
            <a:ext cx="457200" cy="27432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554480" y="2441448"/>
            <a:ext cx="2743200" cy="41148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⚙️  执行 Skill  (L1)</a:t>
            </a:r>
          </a:p>
        </p:txBody>
      </p:sp>
      <p:sp>
        <p:nvSpPr>
          <p:cNvPr id="9" name="Down Arrow 8"/>
          <p:cNvSpPr/>
          <p:nvPr/>
        </p:nvSpPr>
        <p:spPr>
          <a:xfrm>
            <a:off x="2697480" y="2898648"/>
            <a:ext cx="457200" cy="274320"/>
          </a:xfrm>
          <a:prstGeom prst="downArrow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554480" y="3218688"/>
            <a:ext cx="274320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📋  </a:t>
            </a:r>
            <a:r>
              <a:rPr lang="zh-CN" altLang="en-US" dirty="0"/>
              <a:t>创建并执行</a:t>
            </a:r>
            <a:r>
              <a:rPr dirty="0"/>
              <a:t>Task + </a:t>
            </a:r>
            <a:r>
              <a:rPr dirty="0" err="1"/>
              <a:t>产出</a:t>
            </a:r>
            <a:r>
              <a:rPr dirty="0"/>
              <a:t> .md</a:t>
            </a:r>
            <a:r>
              <a:rPr lang="en-US" dirty="0"/>
              <a:t>/.</a:t>
            </a:r>
            <a:r>
              <a:rPr lang="en-US" dirty="0" err="1"/>
              <a:t>py</a:t>
            </a:r>
            <a:r>
              <a:rPr dirty="0"/>
              <a:t>  (L2)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697480" y="3675887"/>
            <a:ext cx="457200" cy="274320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4320" y="3995928"/>
            <a:ext cx="1371600" cy="5486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900" b="0">
                <a:solidFill>
                  <a:srgbClr val="1F3A68"/>
                </a:solidFill>
              </a:defRPr>
            </a:pPr>
            <a:r>
              <a:rPr dirty="0"/>
              <a:t>🔧 </a:t>
            </a:r>
            <a:r>
              <a:rPr dirty="0" err="1"/>
              <a:t>tool_call</a:t>
            </a:r>
            <a:endParaRPr dirty="0"/>
          </a:p>
          <a:p>
            <a:r>
              <a:rPr sz="1600" dirty="0">
                <a:solidFill>
                  <a:schemeClr val="tx1"/>
                </a:solidFill>
              </a:rPr>
              <a:t>bash / read / write / edit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37360" y="3995928"/>
            <a:ext cx="1143000" cy="5486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000" b="1">
                <a:solidFill>
                  <a:srgbClr val="1F3A68"/>
                </a:solidFill>
              </a:defRPr>
            </a:pPr>
            <a:r>
              <a:rPr dirty="0"/>
              <a:t>💭 thought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3995928"/>
            <a:ext cx="1143000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✅ decision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3995928"/>
            <a:ext cx="1143000" cy="5486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❌ error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697480" y="4590288"/>
            <a:ext cx="457200" cy="27432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554480" y="4910328"/>
            <a:ext cx="2743200" cy="41148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🏁  结束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0239" y="2513621"/>
            <a:ext cx="1613361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7280"/>
                </a:solidFill>
              </a:defRPr>
            </a:pPr>
            <a:endParaRPr dirty="0"/>
          </a:p>
          <a:p>
            <a:r>
              <a:rPr dirty="0" err="1"/>
              <a:t>先记录完整执行轨迹</a:t>
            </a:r>
            <a:endParaRPr dirty="0"/>
          </a:p>
          <a:p>
            <a:r>
              <a:rPr dirty="0" err="1"/>
              <a:t>构建因果图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5943600" y="11704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F3A68"/>
                </a:solidFill>
              </a:defRPr>
            </a:pPr>
            <a:r>
              <a:t>② 根因分析流程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664208"/>
            <a:ext cx="2377440" cy="3657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100" b="1">
                <a:solidFill>
                  <a:srgbClr val="1F3A68"/>
                </a:solidFill>
              </a:defRPr>
            </a:pPr>
            <a:r>
              <a:rPr dirty="0"/>
              <a:t>1️⃣  </a:t>
            </a:r>
            <a:r>
              <a:rPr dirty="0" err="1"/>
              <a:t>用户输入</a:t>
            </a:r>
            <a:r>
              <a:rPr lang="en-US" altLang="zh-CN" dirty="0" err="1"/>
              <a:t>session</a:t>
            </a:r>
            <a:endParaRPr dirty="0"/>
          </a:p>
        </p:txBody>
      </p:sp>
      <p:sp>
        <p:nvSpPr>
          <p:cNvPr id="21" name="Down Arrow 20"/>
          <p:cNvSpPr/>
          <p:nvPr/>
        </p:nvSpPr>
        <p:spPr>
          <a:xfrm>
            <a:off x="7040880" y="2075688"/>
            <a:ext cx="548640" cy="201168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26480" y="2322576"/>
            <a:ext cx="2377440" cy="3657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100" b="1">
                <a:solidFill>
                  <a:srgbClr val="1F3A68"/>
                </a:solidFill>
              </a:defRPr>
            </a:pPr>
            <a:r>
              <a:t>2️⃣  构建因果图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040880" y="2734056"/>
            <a:ext cx="548640" cy="201168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26480" y="2980944"/>
            <a:ext cx="2377440" cy="3657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100" b="1">
                <a:solidFill>
                  <a:srgbClr val="1F3A68"/>
                </a:solidFill>
              </a:defRPr>
            </a:pPr>
            <a:r>
              <a:t>3️⃣  描述问题现象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7040880" y="3392424"/>
            <a:ext cx="548640" cy="201168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126480" y="3639312"/>
            <a:ext cx="237744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4️⃣  触发回溯  ←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7040880" y="4050791"/>
            <a:ext cx="548640" cy="201168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943600" y="4297680"/>
            <a:ext cx="1188720" cy="32918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5Why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4297680"/>
            <a:ext cx="1188720" cy="32918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CAE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7040880" y="4672584"/>
            <a:ext cx="548640" cy="182880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126480" y="4901184"/>
            <a:ext cx="2377440" cy="3657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100" b="1">
                <a:solidFill>
                  <a:srgbClr val="1F3A68"/>
                </a:solidFill>
              </a:defRPr>
            </a:pPr>
            <a:r>
              <a:t>5️⃣  推理定位根因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7040880" y="5312664"/>
            <a:ext cx="548640" cy="201168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126480" y="5559552"/>
            <a:ext cx="237744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6️⃣  输出根因结论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11704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F3A68"/>
                </a:solidFill>
              </a:defRPr>
            </a:pPr>
            <a:r>
              <a:t>③ 推理方法详解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0" y="1664208"/>
            <a:ext cx="32004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rPr dirty="0"/>
              <a:t>5Why </a:t>
            </a:r>
            <a:r>
              <a:rPr dirty="0" err="1"/>
              <a:t>分析法</a:t>
            </a:r>
            <a:endParaRPr lang="en-US" dirty="0"/>
          </a:p>
          <a:p>
            <a:pPr>
              <a:defRPr sz="1400" b="1">
                <a:solidFill>
                  <a:srgbClr val="F59E0B"/>
                </a:solidFill>
              </a:defRPr>
            </a:pPr>
            <a:r>
              <a:rPr dirty="0" err="1">
                <a:solidFill>
                  <a:schemeClr val="tx1"/>
                </a:solidFill>
              </a:rPr>
              <a:t>由果</a:t>
            </a:r>
            <a:r>
              <a:rPr dirty="0">
                <a:solidFill>
                  <a:schemeClr val="tx1"/>
                </a:solidFill>
              </a:rPr>
              <a:t> → 因, </a:t>
            </a:r>
            <a:r>
              <a:rPr dirty="0" err="1">
                <a:solidFill>
                  <a:schemeClr val="tx1"/>
                </a:solidFill>
              </a:rPr>
              <a:t>逐层深入</a:t>
            </a:r>
            <a:r>
              <a:rPr dirty="0">
                <a:solidFill>
                  <a:schemeClr val="tx1"/>
                </a:solidFill>
              </a:rPr>
              <a:t>→ 因 X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</a:t>
            </a:r>
            <a:r>
              <a:rPr dirty="0" err="1">
                <a:solidFill>
                  <a:schemeClr val="tx1"/>
                </a:solidFill>
              </a:rPr>
              <a:t>为什么</a:t>
            </a:r>
            <a:r>
              <a:rPr dirty="0">
                <a:solidFill>
                  <a:schemeClr val="tx1"/>
                </a:solidFill>
              </a:rPr>
              <a:t> X? → 因 Y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... </a:t>
            </a:r>
            <a:r>
              <a:rPr dirty="0" err="1">
                <a:solidFill>
                  <a:schemeClr val="tx1"/>
                </a:solidFill>
              </a:rPr>
              <a:t>直到根因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732520" y="3758184"/>
            <a:ext cx="32004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rPr dirty="0"/>
              <a:t>CAE </a:t>
            </a:r>
            <a:r>
              <a:rPr dirty="0" err="1"/>
              <a:t>模型</a:t>
            </a:r>
            <a:endParaRPr dirty="0"/>
          </a:p>
          <a:p>
            <a:br>
              <a:rPr dirty="0"/>
            </a:br>
            <a:r>
              <a:rPr sz="1600" dirty="0">
                <a:solidFill>
                  <a:schemeClr val="tx1"/>
                </a:solidFill>
              </a:rPr>
              <a:t>Claim      </a:t>
            </a:r>
            <a:r>
              <a:rPr sz="1600" dirty="0" err="1">
                <a:solidFill>
                  <a:schemeClr val="tx1"/>
                </a:solidFill>
              </a:rPr>
              <a:t>主张</a:t>
            </a:r>
            <a:r>
              <a:rPr sz="1600" dirty="0">
                <a:solidFill>
                  <a:schemeClr val="tx1"/>
                </a:solidFill>
              </a:rPr>
              <a:t> / </a:t>
            </a:r>
            <a:r>
              <a:rPr sz="1600" dirty="0" err="1">
                <a:solidFill>
                  <a:schemeClr val="tx1"/>
                </a:solidFill>
              </a:rPr>
              <a:t>结论</a:t>
            </a:r>
            <a:endParaRPr sz="1600" dirty="0">
              <a:solidFill>
                <a:schemeClr val="tx1"/>
              </a:solidFill>
            </a:endParaRPr>
          </a:p>
          <a:p>
            <a:pPr>
              <a:defRPr sz="1100">
                <a:solidFill>
                  <a:srgbClr val="1F2937"/>
                </a:solidFill>
              </a:defRPr>
            </a:pPr>
            <a:r>
              <a:rPr sz="1600" dirty="0">
                <a:solidFill>
                  <a:schemeClr val="tx1"/>
                </a:solidFill>
              </a:rPr>
              <a:t>Argument   </a:t>
            </a:r>
            <a:r>
              <a:rPr sz="1600" dirty="0" err="1">
                <a:solidFill>
                  <a:schemeClr val="tx1"/>
                </a:solidFill>
              </a:rPr>
              <a:t>推理</a:t>
            </a:r>
            <a:r>
              <a:rPr sz="1600" dirty="0">
                <a:solidFill>
                  <a:schemeClr val="tx1"/>
                </a:solidFill>
              </a:rPr>
              <a:t> / </a:t>
            </a:r>
            <a:r>
              <a:rPr sz="1600" dirty="0" err="1">
                <a:solidFill>
                  <a:schemeClr val="tx1"/>
                </a:solidFill>
              </a:rPr>
              <a:t>论据</a:t>
            </a:r>
            <a:endParaRPr sz="1600" dirty="0">
              <a:solidFill>
                <a:schemeClr val="tx1"/>
              </a:solidFill>
            </a:endParaRPr>
          </a:p>
          <a:p>
            <a:pPr>
              <a:defRPr sz="1100">
                <a:solidFill>
                  <a:srgbClr val="1F2937"/>
                </a:solidFill>
              </a:defRPr>
            </a:pPr>
            <a:r>
              <a:rPr sz="1600" dirty="0">
                <a:solidFill>
                  <a:schemeClr val="tx1"/>
                </a:solidFill>
              </a:rPr>
              <a:t>Evidence   </a:t>
            </a:r>
            <a:r>
              <a:rPr sz="1600" dirty="0" err="1">
                <a:solidFill>
                  <a:schemeClr val="tx1"/>
                </a:solidFill>
              </a:rPr>
              <a:t>证据</a:t>
            </a:r>
            <a:r>
              <a:rPr sz="1600" dirty="0">
                <a:solidFill>
                  <a:schemeClr val="tx1"/>
                </a:solidFill>
              </a:rPr>
              <a:t> / </a:t>
            </a:r>
            <a:r>
              <a:rPr sz="1600" dirty="0" err="1">
                <a:solidFill>
                  <a:schemeClr val="tx1"/>
                </a:solidFill>
              </a:rPr>
              <a:t>数据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57200" y="6263640"/>
            <a:ext cx="11274552" cy="45720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💡  核心思路: 先记录完整的执行轨迹(因果图)  →  用户描述问题  →  在图中反向回溯  +  推理方法定位根因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131</Words>
  <Application>Microsoft Office PowerPoint</Application>
  <PresentationFormat>自定义</PresentationFormat>
  <Paragraphs>32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尘 牧</cp:lastModifiedBy>
  <cp:revision>2</cp:revision>
  <dcterms:created xsi:type="dcterms:W3CDTF">2013-01-27T09:14:16Z</dcterms:created>
  <dcterms:modified xsi:type="dcterms:W3CDTF">2026-07-29T03:59:04Z</dcterms:modified>
  <cp:category/>
</cp:coreProperties>
</file>