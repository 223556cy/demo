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566928"/>
            <a:ext cx="1965960" cy="310896"/>
          </a:xfrm>
          <a:prstGeom prst="roundRect">
            <a:avLst/>
          </a:prstGeom>
          <a:solidFill>
            <a:srgbClr val="2A78D6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DESIGN PLAN ·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698480" cy="12344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trace_board_v2</a:t>
            </a:r>
            <a:br/>
            <a:r>
              <a:rPr sz="3600" b="1">
                <a:solidFill>
                  <a:srgbClr val="FFFFFF"/>
                </a:solidFill>
                <a:latin typeface="Microsoft YaHei"/>
              </a:rPr>
              <a:t>层级因果图设计计划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2788920"/>
            <a:ext cx="98755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C3C2B7"/>
                </a:solidFill>
                <a:latin typeface="Microsoft YaHei"/>
              </a:rPr>
              <a:t>以 SkillRun 为一级节点 · SemanticTask 为二级节点</a:t>
            </a:r>
            <a:br/>
            <a:r>
              <a:rPr sz="1800" b="0">
                <a:solidFill>
                  <a:srgbClr val="C3C2B7"/>
                </a:solidFill>
                <a:latin typeface="Microsoft YaHei"/>
              </a:rPr>
              <a:t>让 Decision、ToolCall、重要 Error 与 .md 产物形成可追溯闭环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913632"/>
            <a:ext cx="3017520" cy="1115568"/>
          </a:xfrm>
          <a:prstGeom prst="roundRect">
            <a:avLst/>
          </a:prstGeom>
          <a:solidFill>
            <a:srgbClr val="242423"/>
          </a:solidFill>
          <a:ln w="12700">
            <a:solidFill>
              <a:srgbClr val="38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3913632"/>
            <a:ext cx="73152" cy="1115568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59936"/>
            <a:ext cx="2670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SkillRun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498848"/>
            <a:ext cx="2670048" cy="42062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C3C2B7"/>
                </a:solidFill>
                <a:latin typeface="Microsoft YaHei"/>
              </a:rPr>
              <a:t>同级大节点 · invokes 连接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9432" y="3913632"/>
            <a:ext cx="3017520" cy="1115568"/>
          </a:xfrm>
          <a:prstGeom prst="roundRect">
            <a:avLst/>
          </a:prstGeom>
          <a:solidFill>
            <a:srgbClr val="242423"/>
          </a:solidFill>
          <a:ln w="12700">
            <a:solidFill>
              <a:srgbClr val="38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2" y="3913632"/>
            <a:ext cx="73152" cy="1115568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4059936"/>
            <a:ext cx="2670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SemanticTask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498848"/>
            <a:ext cx="2670048" cy="42062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C3C2B7"/>
                </a:solidFill>
                <a:latin typeface="Microsoft YaHei"/>
              </a:rPr>
              <a:t>语义聚合 · 显示推断置信度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76488" y="3913632"/>
            <a:ext cx="3017520" cy="1115568"/>
          </a:xfrm>
          <a:prstGeom prst="roundRect">
            <a:avLst/>
          </a:prstGeom>
          <a:solidFill>
            <a:srgbClr val="242423"/>
          </a:solidFill>
          <a:ln w="12700">
            <a:solidFill>
              <a:srgbClr val="38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76488" y="3913632"/>
            <a:ext cx="73152" cy="1115568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77656" y="4059936"/>
            <a:ext cx="26700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FFFFFF"/>
                </a:solidFill>
                <a:latin typeface="Microsoft YaHei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77656" y="4498848"/>
            <a:ext cx="2670048" cy="42062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C3C2B7"/>
                </a:solidFill>
                <a:latin typeface="Microsoft YaHei"/>
              </a:rPr>
              <a:t>Decision / Tool / Error / .md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67328" y="4471416"/>
            <a:ext cx="749808" cy="0"/>
          </a:xfrm>
          <a:prstGeom prst="line">
            <a:avLst/>
          </a:prstGeom>
          <a:ln w="25400">
            <a:solidFill>
              <a:srgbClr val="898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44383" y="4471416"/>
            <a:ext cx="749809" cy="0"/>
          </a:xfrm>
          <a:prstGeom prst="line">
            <a:avLst/>
          </a:prstGeom>
          <a:ln w="25400">
            <a:solidFill>
              <a:srgbClr val="898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" y="6181344"/>
            <a:ext cx="36576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898781"/>
                </a:solidFill>
                <a:latin typeface="Microsoft YaHei"/>
              </a:rPr>
              <a:t>设计讨论稿 · 暂不修改原 trace_board.py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为什么需要重构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当前图把执行时序、层级和因果混在一起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257800" cy="175564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73152" cy="1755648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27632"/>
            <a:ext cx="49103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0B0B0B"/>
                </a:solidFill>
                <a:latin typeface="Microsoft YaHei"/>
              </a:rPr>
              <a:t>层级缺失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66544"/>
            <a:ext cx="4910328" cy="10607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2514E"/>
                </a:solidFill>
                <a:latin typeface="Microsoft YaHei"/>
              </a:rPr>
              <a:t>Stage、Skill、Action 平铺，无法快速理解每个 Skill 到底完成了什么。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1768" y="1645920"/>
            <a:ext cx="566928" cy="310896"/>
          </a:xfrm>
          <a:prstGeom prst="roundRect">
            <a:avLst/>
          </a:prstGeom>
          <a:solidFill>
            <a:srgbClr val="2A78D6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481328"/>
            <a:ext cx="5257800" cy="175564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81928" y="1481328"/>
            <a:ext cx="73152" cy="1755648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3096" y="1627632"/>
            <a:ext cx="49103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0B0B0B"/>
                </a:solidFill>
                <a:latin typeface="Microsoft YaHei"/>
              </a:rPr>
              <a:t>then ≠ 因果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066544"/>
            <a:ext cx="4910328" cy="10607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2514E"/>
                </a:solidFill>
                <a:latin typeface="Microsoft YaHei"/>
              </a:rPr>
              <a:t>连续发生只代表时间顺序，不能证明前一个动作导致后一个动作。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25328" y="1645920"/>
            <a:ext cx="566928" cy="310896"/>
          </a:xfrm>
          <a:prstGeom prst="roundRect">
            <a:avLst/>
          </a:prstGeom>
          <a:solidFill>
            <a:srgbClr val="EB6834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30168"/>
            <a:ext cx="5257800" cy="175564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73152" cy="1755648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776472"/>
            <a:ext cx="49103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0B0B0B"/>
                </a:solidFill>
                <a:latin typeface="Microsoft YaHei"/>
              </a:rPr>
              <a:t>产物归属不清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215384"/>
            <a:ext cx="4910328" cy="10607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2514E"/>
                </a:solidFill>
                <a:latin typeface="Microsoft YaHei"/>
              </a:rPr>
              <a:t>Write/Edit 只显示为动作，.md 契约产物无法稳定归属到 Skill 与 Task。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1768" y="3794760"/>
            <a:ext cx="566928" cy="310896"/>
          </a:xfrm>
          <a:prstGeom prst="roundRect">
            <a:avLst/>
          </a:prstGeom>
          <a:solidFill>
            <a:srgbClr val="1BAF7A"/>
          </a:solidFill>
          <a:ln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81928" y="3630168"/>
            <a:ext cx="5257800" cy="175564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81928" y="3630168"/>
            <a:ext cx="73152" cy="1755648"/>
          </a:xfrm>
          <a:prstGeom prst="round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3096" y="3776472"/>
            <a:ext cx="49103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0B0B0B"/>
                </a:solidFill>
                <a:latin typeface="Microsoft YaHei"/>
              </a:rPr>
              <a:t>错误信号被淹没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3096" y="4215384"/>
            <a:ext cx="4910328" cy="10607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2514E"/>
                </a:solidFill>
                <a:latin typeface="Microsoft YaHei"/>
              </a:rPr>
              <a:t>所有错误同权展示或被过滤，重要失败与恢复链无法突出。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25328" y="3794760"/>
            <a:ext cx="566928" cy="310896"/>
          </a:xfrm>
          <a:prstGeom prst="roundRect">
            <a:avLst/>
          </a:prstGeom>
          <a:solidFill>
            <a:srgbClr val="D03B3B"/>
          </a:solidFill>
          <a:ln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870448"/>
            <a:ext cx="10789920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0B0B0B"/>
                </a:solidFill>
                <a:latin typeface="Microsoft YaHei"/>
              </a:rPr>
              <a:t>目标：从“发生了什么”升级为“哪个 Skill 为何执行、完成了哪些 Task、产生了什么、哪里失败又如何恢复”。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已确认的设计原则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本页是后续实现的边界条件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44752"/>
            <a:ext cx="3493008" cy="175564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44752"/>
            <a:ext cx="73152" cy="1755648"/>
          </a:xfrm>
          <a:prstGeom prst="roundRect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591056"/>
            <a:ext cx="314553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不创建 Workflow 节点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3145536" cy="10607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用户目标只作为页面摘要，不占据因果图节点。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1591056"/>
            <a:ext cx="384048" cy="310896"/>
          </a:xfrm>
          <a:prstGeom prst="roundRect">
            <a:avLst/>
          </a:prstGeom>
          <a:solidFill>
            <a:srgbClr val="898781"/>
          </a:solidFill>
          <a:ln>
            <a:solidFill>
              <a:srgbClr val="898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44752"/>
            <a:ext cx="3493008" cy="175564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59" y="1444752"/>
            <a:ext cx="73152" cy="1755648"/>
          </a:xfrm>
          <a:prstGeom prst="roundRect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1591056"/>
            <a:ext cx="314553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完全忽略 Stage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7" y="2029968"/>
            <a:ext cx="3145536" cy="10607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PLANNING / IMPLEMENTING / APPLYING 不做节点、泳道或过滤。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51775" y="1591056"/>
            <a:ext cx="384048" cy="310896"/>
          </a:xfrm>
          <a:prstGeom prst="roundRect">
            <a:avLst/>
          </a:prstGeom>
          <a:solidFill>
            <a:srgbClr val="898781"/>
          </a:solidFill>
          <a:ln>
            <a:solidFill>
              <a:srgbClr val="8987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02752" y="1444752"/>
            <a:ext cx="3493008" cy="175564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2752" y="1444752"/>
            <a:ext cx="73152" cy="1755648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1591056"/>
            <a:ext cx="314553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SkillRun 是一级节点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029968"/>
            <a:ext cx="3145536" cy="10607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每次 Skill 调用是独立实例，所有 Skill 在主图同级展示。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173968" y="1591056"/>
            <a:ext cx="384048" cy="310896"/>
          </a:xfrm>
          <a:prstGeom prst="roundRect">
            <a:avLst/>
          </a:prstGeom>
          <a:solidFill>
            <a:srgbClr val="2A78D6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93592"/>
            <a:ext cx="3493008" cy="175564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593592"/>
            <a:ext cx="73152" cy="1755648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739896"/>
            <a:ext cx="314553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Task 是二级抽象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178808"/>
            <a:ext cx="3145536" cy="10607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根据 Skill 内事件语义聚合，不直接照搬阶段级 TaskCreate。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9584" y="3739896"/>
            <a:ext cx="384048" cy="310896"/>
          </a:xfrm>
          <a:prstGeom prst="roundRect">
            <a:avLst/>
          </a:prstGeom>
          <a:solidFill>
            <a:srgbClr val="1BAF7A"/>
          </a:solidFill>
          <a:ln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59" y="3593592"/>
            <a:ext cx="3493008" cy="175564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80559" y="3593592"/>
            <a:ext cx="73152" cy="1755648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7" y="3739896"/>
            <a:ext cx="314553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证据落到 Task 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7" y="4178808"/>
            <a:ext cx="3145536" cy="10607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Decision、ToolCall、Observation 是 Task 的可下钻细节。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51775" y="3739896"/>
            <a:ext cx="384048" cy="310896"/>
          </a:xfrm>
          <a:prstGeom prst="roundRect">
            <a:avLst/>
          </a:prstGeom>
          <a:solidFill>
            <a:srgbClr val="EB6834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3593592"/>
            <a:ext cx="3493008" cy="175564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02752" y="3593592"/>
            <a:ext cx="73152" cy="1755648"/>
          </a:xfrm>
          <a:prstGeom prst="round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3739896"/>
            <a:ext cx="314553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.md 与重要 Error 外显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178808"/>
            <a:ext cx="3145536" cy="10607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契约产物、失败和恢复链在 Skill 边界上独立显示。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173968" y="3739896"/>
            <a:ext cx="384048" cy="310896"/>
          </a:xfrm>
          <a:prstGeom prst="roundRect">
            <a:avLst/>
          </a:prstGeom>
          <a:solidFill>
            <a:srgbClr val="D03B3B"/>
          </a:solidFill>
          <a:ln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888736"/>
            <a:ext cx="108813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4A3AA7"/>
                </a:solidFill>
                <a:latin typeface="Microsoft YaHei"/>
              </a:rPr>
              <a:t>核心约束：同一份基础图生成所有粒度；隐藏节点时必须汇总边，绝不产生悬空端点。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目标层级：SkillRun → SemanticTask →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Skill 同级；Task 在 Skill 内；证据节点支撑因果关系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3310128" cy="4370832"/>
          </a:xfrm>
          <a:prstGeom prst="roundRect">
            <a:avLst/>
          </a:prstGeom>
          <a:solidFill>
            <a:srgbClr val="FCFCFB"/>
          </a:solidFill>
          <a:ln w="254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77824" y="1664208"/>
            <a:ext cx="2057400" cy="310896"/>
          </a:xfrm>
          <a:prstGeom prst="roundRect">
            <a:avLst/>
          </a:prstGeom>
          <a:solidFill>
            <a:srgbClr val="2A78D6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aid-planning #1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481328"/>
            <a:ext cx="3310128" cy="4370832"/>
          </a:xfrm>
          <a:prstGeom prst="roundRect">
            <a:avLst/>
          </a:prstGeom>
          <a:solidFill>
            <a:srgbClr val="FCFCFB"/>
          </a:solidFill>
          <a:ln w="25400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35424" y="1664208"/>
            <a:ext cx="2057400" cy="310896"/>
          </a:xfrm>
          <a:prstGeom prst="roundRect">
            <a:avLst/>
          </a:prstGeom>
          <a:solidFill>
            <a:srgbClr val="1BAF7A"/>
          </a:solidFill>
          <a:ln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rq-parse #1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73568" y="1481328"/>
            <a:ext cx="3310128" cy="4370832"/>
          </a:xfrm>
          <a:prstGeom prst="roundRect">
            <a:avLst/>
          </a:prstGeom>
          <a:solidFill>
            <a:srgbClr val="FCFCFB"/>
          </a:solidFill>
          <a:ln w="2540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93024" y="1664208"/>
            <a:ext cx="2057400" cy="310896"/>
          </a:xfrm>
          <a:prstGeom prst="roundRect">
            <a:avLst/>
          </a:prstGeom>
          <a:solidFill>
            <a:srgbClr val="EB6834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mod-design #1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249424"/>
            <a:ext cx="2816352" cy="107899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6112" y="2249424"/>
            <a:ext cx="73152" cy="1078992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395728"/>
            <a:ext cx="2468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Task：读取输入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40"/>
            <a:ext cx="2468880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Decision · Read · Bash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" y="3511296"/>
            <a:ext cx="2816352" cy="107899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6112" y="3511296"/>
            <a:ext cx="73152" cy="1078992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657600"/>
            <a:ext cx="2468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Task：生成 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96511"/>
            <a:ext cx="2468880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Decision · Write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901184"/>
            <a:ext cx="2267712" cy="310896"/>
          </a:xfrm>
          <a:prstGeom prst="roundRect">
            <a:avLst/>
          </a:prstGeom>
          <a:solidFill>
            <a:srgbClr val="FBE1D7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B0B0B"/>
                </a:solidFill>
                <a:latin typeface="Microsoft YaHei"/>
              </a:rPr>
              <a:t>proposal.md v1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3712" y="2249424"/>
            <a:ext cx="2816352" cy="107899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53712" y="2249424"/>
            <a:ext cx="73152" cy="1078992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395728"/>
            <a:ext cx="2468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Task：扫描上下文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834640"/>
            <a:ext cx="2468880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Decision · Grep · Read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3712" y="3511296"/>
            <a:ext cx="2816352" cy="107899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53712" y="3511296"/>
            <a:ext cx="73152" cy="1078992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657600"/>
            <a:ext cx="2468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Task：验证需求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4096511"/>
            <a:ext cx="2468880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Bash · Observation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0600" y="4901184"/>
            <a:ext cx="2267712" cy="310896"/>
          </a:xfrm>
          <a:prstGeom prst="roundRect">
            <a:avLst/>
          </a:prstGeom>
          <a:solidFill>
            <a:srgbClr val="F7D8D8"/>
          </a:solidFill>
          <a:ln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D03B3B"/>
                </a:solidFill>
                <a:latin typeface="Microsoft YaHei"/>
              </a:rPr>
              <a:t>⚠ TestFailure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11312" y="2249424"/>
            <a:ext cx="2816352" cy="107899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11312" y="2249424"/>
            <a:ext cx="73152" cy="1078992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395728"/>
            <a:ext cx="2468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Task：读取设计输入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834640"/>
            <a:ext cx="2468880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proposal · info · spec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11312" y="3511296"/>
            <a:ext cx="2816352" cy="107899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11312" y="3511296"/>
            <a:ext cx="73152" cy="1078992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3657600"/>
            <a:ext cx="24688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Task：输出设计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096511"/>
            <a:ext cx="2468880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Decision · Write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58200" y="4901184"/>
            <a:ext cx="2267712" cy="310896"/>
          </a:xfrm>
          <a:prstGeom prst="roundRect">
            <a:avLst/>
          </a:prstGeom>
          <a:solidFill>
            <a:srgbClr val="FBE1D7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B0B0B"/>
                </a:solidFill>
                <a:latin typeface="Microsoft YaHei"/>
              </a:rPr>
              <a:t>delta-design.md v1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977639" y="1920240"/>
            <a:ext cx="301753" cy="0"/>
          </a:xfrm>
          <a:prstGeom prst="line">
            <a:avLst/>
          </a:prstGeom>
          <a:ln w="2540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3689604" y="1737360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2A78D6"/>
                </a:solidFill>
                <a:latin typeface="Microsoft YaHei"/>
              </a:rPr>
              <a:t>invokes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635240" y="1920240"/>
            <a:ext cx="301752" cy="0"/>
          </a:xfrm>
          <a:prstGeom prst="line">
            <a:avLst/>
          </a:prstGeom>
          <a:ln w="25400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347204" y="1737360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1BAF7A"/>
                </a:solidFill>
                <a:latin typeface="Microsoft YaHei"/>
              </a:rPr>
              <a:t>invokes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SkillRun：同级展示，保留真实调用关系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每次调用独立编号；attributionSkill 负责事件归属与恢复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2880360" cy="111556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08760"/>
            <a:ext cx="73152" cy="1115568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55063"/>
            <a:ext cx="253288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0B0B0B"/>
                </a:solidFill>
                <a:latin typeface="Microsoft YaHei"/>
              </a:rPr>
              <a:t>aid-planning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93976"/>
            <a:ext cx="2532888" cy="42062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active → suspended → resumed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5152" y="1508760"/>
            <a:ext cx="2880360" cy="111556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5152" y="1508760"/>
            <a:ext cx="73152" cy="1115568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655063"/>
            <a:ext cx="253288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0B0B0B"/>
                </a:solidFill>
                <a:latin typeface="Microsoft YaHei"/>
              </a:rPr>
              <a:t>rq-parse #1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093976"/>
            <a:ext cx="2532888" cy="42062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invoked → active → closed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41080" y="1508760"/>
            <a:ext cx="2880360" cy="111556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41080" y="1508760"/>
            <a:ext cx="73152" cy="1115568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42248" y="1655063"/>
            <a:ext cx="253288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0B0B0B"/>
                </a:solidFill>
                <a:latin typeface="Microsoft YaHei"/>
              </a:rPr>
              <a:t>mod-design #1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2248" y="2093976"/>
            <a:ext cx="2532888" cy="420623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invoked → active → closed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75304" y="2066543"/>
            <a:ext cx="1014984" cy="0"/>
          </a:xfrm>
          <a:prstGeom prst="line">
            <a:avLst/>
          </a:prstGeom>
          <a:ln w="2540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43884" y="1883663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2A78D6"/>
                </a:solidFill>
                <a:latin typeface="Microsoft YaHei"/>
              </a:rPr>
              <a:t>invokes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562088" y="2066543"/>
            <a:ext cx="1024128" cy="0"/>
          </a:xfrm>
          <a:prstGeom prst="line">
            <a:avLst/>
          </a:prstGeom>
          <a:ln w="25400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635240" y="1883663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1BAF7A"/>
                </a:solidFill>
                <a:latin typeface="Microsoft YaHei"/>
              </a:rPr>
              <a:t>invokes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980944"/>
            <a:ext cx="21031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事件归属时间线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3319272"/>
            <a:ext cx="10195560" cy="0"/>
          </a:xfrm>
          <a:prstGeom prst="line">
            <a:avLst/>
          </a:prstGeom>
          <a:ln w="254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" y="3319272"/>
            <a:ext cx="2011680" cy="0"/>
          </a:xfrm>
          <a:prstGeom prst="line">
            <a:avLst/>
          </a:prstGeom>
          <a:ln w="8890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0120" y="3502152"/>
            <a:ext cx="2011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2A78D6"/>
                </a:solidFill>
                <a:latin typeface="Microsoft YaHei"/>
              </a:rPr>
              <a:t>aid-planning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3319272"/>
            <a:ext cx="1938528" cy="0"/>
          </a:xfrm>
          <a:prstGeom prst="line">
            <a:avLst/>
          </a:prstGeom>
          <a:ln w="88900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31920" y="3502152"/>
            <a:ext cx="1938528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1BAF7A"/>
                </a:solidFill>
                <a:latin typeface="Microsoft YaHei"/>
              </a:rPr>
              <a:t>rq-parse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25312" y="3319272"/>
            <a:ext cx="2029967" cy="0"/>
          </a:xfrm>
          <a:prstGeom prst="line">
            <a:avLst/>
          </a:prstGeom>
          <a:ln w="88900">
            <a:solidFill>
              <a:srgbClr val="2A78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25312" y="3502152"/>
            <a:ext cx="2029967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2A78D6"/>
                </a:solidFill>
                <a:latin typeface="Microsoft YaHei"/>
              </a:rPr>
              <a:t>aid-planning 恢复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010144" y="3319272"/>
            <a:ext cx="2871216" cy="0"/>
          </a:xfrm>
          <a:prstGeom prst="line">
            <a:avLst/>
          </a:prstGeom>
          <a:ln w="88900">
            <a:solidFill>
              <a:srgbClr val="EB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010144" y="3502152"/>
            <a:ext cx="2871216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EB6834"/>
                </a:solidFill>
                <a:latin typeface="Microsoft YaHei"/>
              </a:rPr>
              <a:t>mod-design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251960"/>
            <a:ext cx="3429000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58368" y="4251960"/>
            <a:ext cx="73152" cy="123444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4398264"/>
            <a:ext cx="30815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创建信号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" y="4837176"/>
            <a:ext cx="3081528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Skill tool_use 创建新的 SkillRun 实例，并记录调用方。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4251960"/>
            <a:ext cx="3429000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89120" y="4251960"/>
            <a:ext cx="73152" cy="123444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90288" y="4398264"/>
            <a:ext cx="30815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归属信号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0288" y="4837176"/>
            <a:ext cx="3081528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record.attributionSkill 把 Thought / ToolCall 归到正确 Skill。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19872" y="4251960"/>
            <a:ext cx="3429000" cy="12344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19872" y="4251960"/>
            <a:ext cx="73152" cy="1234440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4398264"/>
            <a:ext cx="30815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恢复信号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837176"/>
            <a:ext cx="3081528" cy="5394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attribution 切回父 Skill 时恢复原实例，不重复创建。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SemanticTask 如何抽象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Task 不是原 trace 的阶段级 TaskCreate，而是 Skill 内可解释的语义工作单元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2542032" cy="14813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73152" cy="1481328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19072"/>
            <a:ext cx="21945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收集意图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57984"/>
            <a:ext cx="2194560" cy="7863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累积非 meta thinking/text，提取 step、动词和目标。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1719072"/>
            <a:ext cx="310896" cy="310896"/>
          </a:xfrm>
          <a:prstGeom prst="roundRect">
            <a:avLst/>
          </a:prstGeom>
          <a:solidFill>
            <a:srgbClr val="2A78D6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7832" y="2304288"/>
            <a:ext cx="246888" cy="0"/>
          </a:xfrm>
          <a:prstGeom prst="line">
            <a:avLst/>
          </a:prstGeom>
          <a:ln w="254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20439" y="1572768"/>
            <a:ext cx="2542032" cy="14813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39" y="1572768"/>
            <a:ext cx="73152" cy="1481328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607" y="1719072"/>
            <a:ext cx="21945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识别动作模式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7" y="2157984"/>
            <a:ext cx="2194560" cy="7863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inspect / produce / modify / validate / recover / execute。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3831" y="1719072"/>
            <a:ext cx="310896" cy="310896"/>
          </a:xfrm>
          <a:prstGeom prst="roundRect">
            <a:avLst/>
          </a:prstGeom>
          <a:solidFill>
            <a:srgbClr val="1BAF7A"/>
          </a:solidFill>
          <a:ln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9904" y="2304288"/>
            <a:ext cx="246888" cy="0"/>
          </a:xfrm>
          <a:prstGeom prst="line">
            <a:avLst/>
          </a:prstGeom>
          <a:ln w="254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82512" y="1572768"/>
            <a:ext cx="2542032" cy="14813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82512" y="1572768"/>
            <a:ext cx="73152" cy="1481328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1719072"/>
            <a:ext cx="21945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生成 task_key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9" y="2157984"/>
            <a:ext cx="2194560" cy="7863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semantic_mode + target_scope + explicit_step。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75904" y="1719072"/>
            <a:ext cx="310896" cy="310896"/>
          </a:xfrm>
          <a:prstGeom prst="roundRect">
            <a:avLst/>
          </a:prstGeom>
          <a:solidFill>
            <a:srgbClr val="EB6834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51976" y="2304288"/>
            <a:ext cx="246887" cy="0"/>
          </a:xfrm>
          <a:prstGeom prst="line">
            <a:avLst/>
          </a:prstGeom>
          <a:ln w="25400">
            <a:solidFill>
              <a:srgbClr val="E1E0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44584" y="1572768"/>
            <a:ext cx="2542032" cy="14813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44584" y="1572768"/>
            <a:ext cx="73152" cy="1481328"/>
          </a:xfrm>
          <a:prstGeom prst="round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45752" y="1719072"/>
            <a:ext cx="21945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决定合并或切分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157984"/>
            <a:ext cx="2194560" cy="7863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目标或模式变化、重要错误恢复、Skill 切换时创建新 Task。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237976" y="1719072"/>
            <a:ext cx="310896" cy="310896"/>
          </a:xfrm>
          <a:prstGeom prst="roundRect">
            <a:avLst/>
          </a:prstGeom>
          <a:solidFill>
            <a:srgbClr val="4A3AA7"/>
          </a:solidFill>
          <a:ln>
            <a:solidFill>
              <a:srgbClr val="4A3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3456432"/>
            <a:ext cx="20116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聚合示例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822191"/>
            <a:ext cx="256032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Read + Glob + Grep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3822191"/>
            <a:ext cx="288036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检查输入与上下文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3803904"/>
            <a:ext cx="1965960" cy="310896"/>
          </a:xfrm>
          <a:prstGeom prst="roundRect">
            <a:avLst/>
          </a:prstGeom>
          <a:solidFill>
            <a:srgbClr val="CDE2FB"/>
          </a:solidFill>
          <a:ln>
            <a:solidFill>
              <a:srgbClr val="CDE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B0B0B"/>
                </a:solidFill>
                <a:latin typeface="Microsoft YaHei"/>
              </a:rPr>
              <a:t>inspect-input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803904"/>
            <a:ext cx="1143000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52514E"/>
                </a:solidFill>
                <a:latin typeface="Microsoft YaHei"/>
              </a:rPr>
              <a:t>medium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343400"/>
            <a:ext cx="256032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Write proposal.md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343400"/>
            <a:ext cx="288036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生成 proposal.md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4325112"/>
            <a:ext cx="1965960" cy="310896"/>
          </a:xfrm>
          <a:prstGeom prst="roundRect">
            <a:avLst/>
          </a:prstGeom>
          <a:solidFill>
            <a:srgbClr val="FBE1D7"/>
          </a:solidFill>
          <a:ln>
            <a:solidFill>
              <a:srgbClr val="FB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B0B0B"/>
                </a:solidFill>
                <a:latin typeface="Microsoft YaHei"/>
              </a:rPr>
              <a:t>produce-artifact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4325112"/>
            <a:ext cx="1143000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52514E"/>
                </a:solidFill>
                <a:latin typeface="Microsoft YaHei"/>
              </a:rPr>
              <a:t>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864607"/>
            <a:ext cx="256032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pytest / hvigor test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4864607"/>
            <a:ext cx="288036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运行测试验证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4846320"/>
            <a:ext cx="1965960" cy="310896"/>
          </a:xfrm>
          <a:prstGeom prst="roundRect">
            <a:avLst/>
          </a:prstGeom>
          <a:solidFill>
            <a:srgbClr val="D6F4E8"/>
          </a:solidFill>
          <a:ln>
            <a:solidFill>
              <a:srgbClr val="D6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B0B0B"/>
                </a:solidFill>
                <a:latin typeface="Microsoft YaHei"/>
              </a:rPr>
              <a:t>validate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4846320"/>
            <a:ext cx="1143000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52514E"/>
                </a:solidFill>
                <a:latin typeface="Microsoft YaHei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385816"/>
            <a:ext cx="256032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Error 后 Edit + Retest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5385816"/>
            <a:ext cx="288036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0B0B0B"/>
                </a:solidFill>
                <a:latin typeface="Microsoft YaHei"/>
              </a:rPr>
              <a:t>恢复 TestFailure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29400" y="5367528"/>
            <a:ext cx="1965960" cy="310896"/>
          </a:xfrm>
          <a:prstGeom prst="roundRect">
            <a:avLst/>
          </a:prstGeom>
          <a:solidFill>
            <a:srgbClr val="E6E2F7"/>
          </a:solidFill>
          <a:ln>
            <a:solidFill>
              <a:srgbClr val="E6E2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0B0B0B"/>
                </a:solidFill>
                <a:latin typeface="Microsoft YaHei"/>
              </a:rPr>
              <a:t>recover-error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0" y="5367528"/>
            <a:ext cx="1143000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52514E"/>
                </a:solidFill>
                <a:latin typeface="Microsoft YaHei"/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3840480"/>
            <a:ext cx="932688" cy="19659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898781"/>
                </a:solidFill>
                <a:latin typeface="Microsoft YaHei"/>
              </a:rPr>
              <a:t>每个 Task</a:t>
            </a:r>
            <a:br/>
            <a:r>
              <a:rPr sz="1000" b="0">
                <a:solidFill>
                  <a:srgbClr val="898781"/>
                </a:solidFill>
                <a:latin typeface="Microsoft YaHei"/>
              </a:rPr>
              <a:t>保留：</a:t>
            </a:r>
            <a:br/>
            <a:r>
              <a:rPr sz="1000" b="0">
                <a:solidFill>
                  <a:srgbClr val="898781"/>
                </a:solidFill>
                <a:latin typeface="Microsoft YaHei"/>
              </a:rPr>
              <a:t>• confidence</a:t>
            </a:r>
            <a:br/>
            <a:r>
              <a:rPr sz="1000" b="0">
                <a:solidFill>
                  <a:srgbClr val="898781"/>
                </a:solidFill>
                <a:latin typeface="Microsoft YaHei"/>
              </a:rPr>
              <a:t>• boundary</a:t>
            </a:r>
            <a:br/>
            <a:r>
              <a:rPr sz="1000" b="0">
                <a:solidFill>
                  <a:srgbClr val="898781"/>
                </a:solidFill>
                <a:latin typeface="Microsoft YaHei"/>
              </a:rPr>
              <a:t>• event range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因果节点与边：只保留有证据的关系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不生成 then；预期关系与实际关系分层保存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1572768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73152" cy="1024128"/>
          </a:xfrm>
          <a:prstGeom prst="round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719072"/>
            <a:ext cx="1225295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157984"/>
            <a:ext cx="1225295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2514E"/>
                </a:solidFill>
                <a:latin typeface="Microsoft YaHei"/>
              </a:rPr>
              <a:t>为什么做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572768"/>
            <a:ext cx="1572768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60" y="1572768"/>
            <a:ext cx="73152" cy="1024128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1719072"/>
            <a:ext cx="1225295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ToolCall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1528" y="2157984"/>
            <a:ext cx="1225295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2514E"/>
                </a:solidFill>
                <a:latin typeface="Microsoft YaHei"/>
              </a:rPr>
              <a:t>实际动作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02352" y="1572768"/>
            <a:ext cx="1956816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02352" y="1572768"/>
            <a:ext cx="73152" cy="1024128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1719072"/>
            <a:ext cx="1609344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ArtifactVersion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157984"/>
            <a:ext cx="1609344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2514E"/>
                </a:solidFill>
                <a:latin typeface="Microsoft YaHei"/>
              </a:rPr>
              <a:t>文件状态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08392" y="1572768"/>
            <a:ext cx="1572768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08392" y="1572768"/>
            <a:ext cx="73152" cy="1024128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1719072"/>
            <a:ext cx="1225295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2157984"/>
            <a:ext cx="1225295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2514E"/>
                </a:solidFill>
                <a:latin typeface="Microsoft YaHei"/>
              </a:rPr>
              <a:t>结果证据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21824" y="1572768"/>
            <a:ext cx="1572768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21824" y="1572768"/>
            <a:ext cx="73152" cy="1024128"/>
          </a:xfrm>
          <a:prstGeom prst="round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2992" y="1719072"/>
            <a:ext cx="1225295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2157984"/>
            <a:ext cx="1225295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52514E"/>
                </a:solidFill>
                <a:latin typeface="Microsoft YaHei"/>
              </a:rPr>
              <a:t>失败证据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76856" y="2084831"/>
            <a:ext cx="548640" cy="0"/>
          </a:xfrm>
          <a:prstGeom prst="line">
            <a:avLst/>
          </a:prstGeom>
          <a:ln w="25400">
            <a:solidFill>
              <a:srgbClr val="4A3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112264" y="1901951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4A3AA7"/>
                </a:solidFill>
                <a:latin typeface="Microsoft YaHei"/>
              </a:rPr>
              <a:t>drives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489704" y="2084831"/>
            <a:ext cx="557784" cy="0"/>
          </a:xfrm>
          <a:prstGeom prst="line">
            <a:avLst/>
          </a:prstGeom>
          <a:ln w="25400">
            <a:solidFill>
              <a:srgbClr val="EB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29683" y="1901951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EB6834"/>
                </a:solidFill>
                <a:latin typeface="Microsoft YaHei"/>
              </a:rPr>
              <a:t>produces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04888" y="2084831"/>
            <a:ext cx="548639" cy="0"/>
          </a:xfrm>
          <a:prstGeom prst="line">
            <a:avLst/>
          </a:prstGeom>
          <a:ln w="25400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940296" y="1901951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1BAF7A"/>
                </a:solidFill>
                <a:latin typeface="Microsoft YaHei"/>
              </a:rPr>
              <a:t>validates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26880" y="2084831"/>
            <a:ext cx="640080" cy="0"/>
          </a:xfrm>
          <a:prstGeom prst="line">
            <a:avLst/>
          </a:prstGeom>
          <a:ln w="25400">
            <a:solidFill>
              <a:srgbClr val="D0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08008" y="1901951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D03B3B"/>
                </a:solidFill>
                <a:latin typeface="Microsoft YaHei"/>
              </a:rPr>
              <a:t>yields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" y="3246120"/>
            <a:ext cx="3456432" cy="98755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6656" y="3246120"/>
            <a:ext cx="73152" cy="987552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3392424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invokes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3831335"/>
            <a:ext cx="31089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Skill → Skill · 真实 Skill 调用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3246120"/>
            <a:ext cx="3456432" cy="98755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480560" y="3246120"/>
            <a:ext cx="73152" cy="987552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3392424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consumes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3831335"/>
            <a:ext cx="31089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Artifact → Tool · 明确 Read/Edit/路径引用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4464" y="3246120"/>
            <a:ext cx="3456432" cy="98755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84464" y="3246120"/>
            <a:ext cx="73152" cy="987552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85632" y="3392424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produces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3831335"/>
            <a:ext cx="31089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Tool → Artifact · 成功 Write/Edit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6656" y="4526279"/>
            <a:ext cx="3456432" cy="98755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76656" y="4526279"/>
            <a:ext cx="73152" cy="987552"/>
          </a:xfrm>
          <a:prstGeom prst="roundRect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" y="4672583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supersedes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" y="5111495"/>
            <a:ext cx="31089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vN → vN+1 · 版本结构关系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80560" y="4526279"/>
            <a:ext cx="3456432" cy="98755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480560" y="4526279"/>
            <a:ext cx="73152" cy="987552"/>
          </a:xfrm>
          <a:prstGeom prst="round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81728" y="4672583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yields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81728" y="5111495"/>
            <a:ext cx="31089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Tool → Result · 成功或失败结果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84464" y="4526279"/>
            <a:ext cx="3456432" cy="98755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84464" y="4526279"/>
            <a:ext cx="73152" cy="987552"/>
          </a:xfrm>
          <a:prstGeom prst="round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85632" y="4672583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triggers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5111495"/>
            <a:ext cx="31089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Error → Recovery · 确有修复证据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80560" y="5961888"/>
            <a:ext cx="3246120" cy="310896"/>
          </a:xfrm>
          <a:prstGeom prst="roundRect">
            <a:avLst/>
          </a:prstGeom>
          <a:solidFill>
            <a:srgbClr val="F7D8D8"/>
          </a:solidFill>
          <a:ln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D03B3B"/>
                </a:solidFill>
                <a:latin typeface="Microsoft YaHei"/>
              </a:rPr>
              <a:t>⊘ 不生成 then / sequential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Error 分级：重要错误独立展示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底层保留全部 Observation；视图根据严重度决定是否外显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709928"/>
            <a:ext cx="1353312" cy="310896"/>
          </a:xfrm>
          <a:prstGeom prst="roundRect">
            <a:avLst/>
          </a:prstGeom>
          <a:solidFill>
            <a:srgbClr val="FAB219"/>
          </a:solidFill>
          <a:ln>
            <a:solidFill>
              <a:srgbClr val="FAB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⚠ MINOR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9152" y="1572768"/>
            <a:ext cx="3977639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59152" y="1572768"/>
            <a:ext cx="73152" cy="1024128"/>
          </a:xfrm>
          <a:prstGeom prst="roundRect">
            <a:avLst/>
          </a:prstGeom>
          <a:solidFill>
            <a:srgbClr val="FAB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719072"/>
            <a:ext cx="36301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判定条件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57984"/>
            <a:ext cx="363016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一次性、已恢复、未改变控制流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5392" y="1572768"/>
            <a:ext cx="4846320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65392" y="1572768"/>
            <a:ext cx="73152" cy="1024128"/>
          </a:xfrm>
          <a:prstGeom prst="roundRect">
            <a:avLst/>
          </a:prstGeom>
          <a:solidFill>
            <a:srgbClr val="FAB2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1719072"/>
            <a:ext cx="44988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展示策略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2157984"/>
            <a:ext cx="4498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只在 Task 详情和微观图出现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127248"/>
            <a:ext cx="1353312" cy="310896"/>
          </a:xfrm>
          <a:prstGeom prst="roundRect">
            <a:avLst/>
          </a:prstGeom>
          <a:solidFill>
            <a:srgbClr val="EC835A"/>
          </a:solidFill>
          <a:ln>
            <a:solidFill>
              <a:srgbClr val="EC83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◆ IMPORTANT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9152" y="2990088"/>
            <a:ext cx="3977639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359152" y="2990088"/>
            <a:ext cx="73152" cy="1024128"/>
          </a:xfrm>
          <a:prstGeom prst="roundRect">
            <a:avLst/>
          </a:prstGeom>
          <a:solidFill>
            <a:srgbClr val="EC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60320" y="3136392"/>
            <a:ext cx="36301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判定条件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575304"/>
            <a:ext cx="363016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测试/构建/Git/网络/超时/权限、重复错误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2990088"/>
            <a:ext cx="4846320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65392" y="2990088"/>
            <a:ext cx="73152" cy="1024128"/>
          </a:xfrm>
          <a:prstGeom prst="roundRect">
            <a:avLst/>
          </a:prstGeom>
          <a:solidFill>
            <a:srgbClr val="EC8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59" y="3136392"/>
            <a:ext cx="44988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展示策略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3575304"/>
            <a:ext cx="4498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独立节点；连接失败动作和恢复 Task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544568"/>
            <a:ext cx="1353312" cy="310896"/>
          </a:xfrm>
          <a:prstGeom prst="roundRect">
            <a:avLst/>
          </a:prstGeom>
          <a:solidFill>
            <a:srgbClr val="D03B3B"/>
          </a:solidFill>
          <a:ln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✖ CRITICAL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59152" y="4407408"/>
            <a:ext cx="3977639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59152" y="4407408"/>
            <a:ext cx="73152" cy="1024128"/>
          </a:xfrm>
          <a:prstGeom prst="round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4553712"/>
            <a:ext cx="363016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判定条件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992624"/>
            <a:ext cx="363016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Skill 未完成、关键 .md 缺失、最终未恢复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65392" y="4407408"/>
            <a:ext cx="4846320" cy="102412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65392" y="4407408"/>
            <a:ext cx="73152" cy="1024128"/>
          </a:xfrm>
          <a:prstGeom prst="round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59" y="4553712"/>
            <a:ext cx="44988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展示策略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59" y="4992624"/>
            <a:ext cx="4498848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主图强制显示；标记未闭环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715000"/>
            <a:ext cx="114300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0B0B0B"/>
                </a:solidFill>
                <a:latin typeface="Microsoft YaHei"/>
              </a:rPr>
              <a:t>闭环示例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38528" y="5669280"/>
            <a:ext cx="1572768" cy="310896"/>
          </a:xfrm>
          <a:prstGeom prst="roundRect">
            <a:avLst/>
          </a:prstGeom>
          <a:solidFill>
            <a:srgbClr val="F7D8D8"/>
          </a:solidFill>
          <a:ln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D03B3B"/>
                </a:solidFill>
                <a:latin typeface="Microsoft YaHei"/>
              </a:rPr>
              <a:t>TestFailure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547872" y="5824728"/>
            <a:ext cx="612648" cy="0"/>
          </a:xfrm>
          <a:prstGeom prst="line">
            <a:avLst/>
          </a:prstGeom>
          <a:ln w="25400">
            <a:solidFill>
              <a:srgbClr val="D03B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15284" y="5641848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D03B3B"/>
                </a:solidFill>
                <a:latin typeface="Microsoft YaHei"/>
              </a:rPr>
              <a:t>triggers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5669280"/>
            <a:ext cx="1719072" cy="310896"/>
          </a:xfrm>
          <a:prstGeom prst="roundRect">
            <a:avLst/>
          </a:prstGeom>
          <a:solidFill>
            <a:srgbClr val="E6E2F7"/>
          </a:solidFill>
          <a:ln>
            <a:solidFill>
              <a:srgbClr val="4A3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4A3AA7"/>
                </a:solidFill>
                <a:latin typeface="Microsoft YaHei"/>
              </a:rPr>
              <a:t>Recovery Task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61888" y="5824728"/>
            <a:ext cx="621792" cy="0"/>
          </a:xfrm>
          <a:prstGeom prst="line">
            <a:avLst/>
          </a:prstGeom>
          <a:ln w="25400">
            <a:solidFill>
              <a:srgbClr val="4A3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629400" y="5669280"/>
            <a:ext cx="1417320" cy="310896"/>
          </a:xfrm>
          <a:prstGeom prst="roundRect">
            <a:avLst/>
          </a:prstGeom>
          <a:solidFill>
            <a:srgbClr val="CDE2FB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2A78D6"/>
                </a:solidFill>
                <a:latin typeface="Microsoft YaHei"/>
              </a:rPr>
              <a:t>Retest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083296" y="5824728"/>
            <a:ext cx="621792" cy="0"/>
          </a:xfrm>
          <a:prstGeom prst="line">
            <a:avLst/>
          </a:prstGeom>
          <a:ln w="25400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750808" y="5669280"/>
            <a:ext cx="1627632" cy="310896"/>
          </a:xfrm>
          <a:prstGeom prst="roundRect">
            <a:avLst/>
          </a:prstGeom>
          <a:solidFill>
            <a:srgbClr val="D6F4E8"/>
          </a:solidFill>
          <a:ln>
            <a:solidFill>
              <a:srgbClr val="0CA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CA30C"/>
                </a:solidFill>
                <a:latin typeface="Microsoft YaHei"/>
              </a:rPr>
              <a:t>TestPassed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.md 契约产物：版本化、可归属、可消费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Skill 的输出不是标签，而是一等 ArtifactVersion 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2331720" cy="107899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73152" cy="1078992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27632"/>
            <a:ext cx="19842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aid-planning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66544"/>
            <a:ext cx="1984248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Task：生成需求提案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94176" y="1810512"/>
            <a:ext cx="1874519" cy="310896"/>
          </a:xfrm>
          <a:prstGeom prst="roundRect">
            <a:avLst/>
          </a:prstGeom>
          <a:solidFill>
            <a:srgbClr val="FBE1D7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B0B0B"/>
                </a:solidFill>
                <a:latin typeface="Microsoft YaHei"/>
              </a:rPr>
              <a:t>proposal.md v1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1481328"/>
            <a:ext cx="2331720" cy="107899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72784" y="1481328"/>
            <a:ext cx="73152" cy="1078992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627632"/>
            <a:ext cx="19842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rq-parse #1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66544"/>
            <a:ext cx="1984248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Task：修正需求提案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08592" y="1810512"/>
            <a:ext cx="1874519" cy="310896"/>
          </a:xfrm>
          <a:prstGeom prst="roundRect">
            <a:avLst/>
          </a:prstGeom>
          <a:solidFill>
            <a:srgbClr val="FBE1D7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B0B0B"/>
                </a:solidFill>
                <a:latin typeface="Microsoft YaHei"/>
              </a:rPr>
              <a:t>proposal.md v2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08376" y="2029968"/>
            <a:ext cx="630936" cy="0"/>
          </a:xfrm>
          <a:prstGeom prst="line">
            <a:avLst/>
          </a:prstGeom>
          <a:ln w="25400">
            <a:solidFill>
              <a:srgbClr val="EB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4932" y="1847088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EB6834"/>
                </a:solidFill>
                <a:latin typeface="Microsoft YaHei"/>
              </a:rPr>
              <a:t>produces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05272" y="2029968"/>
            <a:ext cx="612648" cy="0"/>
          </a:xfrm>
          <a:prstGeom prst="line">
            <a:avLst/>
          </a:prstGeom>
          <a:ln w="25400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72683" y="1847088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1BAF7A"/>
                </a:solidFill>
                <a:latin typeface="Microsoft YaHei"/>
              </a:rPr>
              <a:t>consumes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641080" y="2029968"/>
            <a:ext cx="612648" cy="0"/>
          </a:xfrm>
          <a:prstGeom prst="line">
            <a:avLst/>
          </a:prstGeom>
          <a:ln w="25400">
            <a:solidFill>
              <a:srgbClr val="EB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08492" y="1847088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EB6834"/>
                </a:solidFill>
                <a:latin typeface="Microsoft YaHei"/>
              </a:rPr>
              <a:t>produces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45152" y="2487168"/>
            <a:ext cx="5596128" cy="0"/>
          </a:xfrm>
          <a:prstGeom prst="line">
            <a:avLst/>
          </a:prstGeom>
          <a:ln w="25400">
            <a:solidFill>
              <a:srgbClr val="89878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004304" y="2304288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898781"/>
                </a:solidFill>
                <a:latin typeface="Microsoft YaHei"/>
              </a:rPr>
              <a:t>supersedes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3429000"/>
            <a:ext cx="2514600" cy="107899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4128" y="3429000"/>
            <a:ext cx="73152" cy="1078992"/>
          </a:xfrm>
          <a:prstGeom prst="round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25296" y="3575304"/>
            <a:ext cx="21671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mod-design #1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5296" y="4014215"/>
            <a:ext cx="2167128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读取 proposal / info / spec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3749039"/>
            <a:ext cx="2194560" cy="310896"/>
          </a:xfrm>
          <a:prstGeom prst="roundRect">
            <a:avLst/>
          </a:prstGeom>
          <a:solidFill>
            <a:srgbClr val="FBE1D7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B0B0B"/>
                </a:solidFill>
                <a:latin typeface="Microsoft YaHei"/>
              </a:rPr>
              <a:t>delta-design.md v1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3429000"/>
            <a:ext cx="2514600" cy="1078992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40880" y="3429000"/>
            <a:ext cx="73152" cy="1078992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42048" y="3575304"/>
            <a:ext cx="21671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aid-implementing #1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42048" y="4014215"/>
            <a:ext cx="2167128" cy="384047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消费设计，生成任务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76688" y="3749039"/>
            <a:ext cx="1417320" cy="310896"/>
          </a:xfrm>
          <a:prstGeom prst="roundRect">
            <a:avLst/>
          </a:prstGeom>
          <a:solidFill>
            <a:srgbClr val="FBE1D7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0B0B0B"/>
                </a:solidFill>
                <a:latin typeface="Microsoft YaHei"/>
              </a:rPr>
              <a:t>tasks.md v1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575304" y="3977639"/>
            <a:ext cx="530352" cy="0"/>
          </a:xfrm>
          <a:prstGeom prst="line">
            <a:avLst/>
          </a:prstGeom>
          <a:ln w="25400">
            <a:solidFill>
              <a:srgbClr val="EB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401568" y="3794759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EB6834"/>
                </a:solidFill>
                <a:latin typeface="Microsoft YaHei"/>
              </a:rPr>
              <a:t>produces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0" y="3977639"/>
            <a:ext cx="585216" cy="0"/>
          </a:xfrm>
          <a:prstGeom prst="line">
            <a:avLst/>
          </a:prstGeom>
          <a:ln w="25400">
            <a:solidFill>
              <a:srgbClr val="1BA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254496" y="3794759"/>
            <a:ext cx="877824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1BAF7A"/>
                </a:solidFill>
                <a:latin typeface="Microsoft YaHei"/>
              </a:rPr>
              <a:t>consumes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592056" y="3977639"/>
            <a:ext cx="429768" cy="0"/>
          </a:xfrm>
          <a:prstGeom prst="line">
            <a:avLst/>
          </a:prstGeom>
          <a:ln w="25400">
            <a:solidFill>
              <a:srgbClr val="EB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49808" y="5102352"/>
            <a:ext cx="3401568" cy="93268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49808" y="5102352"/>
            <a:ext cx="73152" cy="932688"/>
          </a:xfrm>
          <a:prstGeom prst="roundRect">
            <a:avLst/>
          </a:prstGeom>
          <a:solidFill>
            <a:srgbClr val="898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" y="5248656"/>
            <a:ext cx="30540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External v0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" y="5687568"/>
            <a:ext cx="3054096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读取成功但本 session 未生成：建立输入版本。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5102352"/>
            <a:ext cx="3401568" cy="93268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389120" y="5102352"/>
            <a:ext cx="73152" cy="932688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90288" y="5248656"/>
            <a:ext cx="30540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Expected output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0288" y="5687568"/>
            <a:ext cx="3054096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Skill args 声明 .md；结束后核对 actual outputs。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28431" y="5102352"/>
            <a:ext cx="3401568" cy="93268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28431" y="5102352"/>
            <a:ext cx="73152" cy="932688"/>
          </a:xfrm>
          <a:prstGeom prst="round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5248656"/>
            <a:ext cx="30540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B0B0B"/>
                </a:solidFill>
                <a:latin typeface="Microsoft YaHei"/>
              </a:rPr>
              <a:t>Missing output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687568"/>
            <a:ext cx="3054096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52514E"/>
                </a:solidFill>
                <a:latin typeface="Microsoft YaHei"/>
              </a:rPr>
              <a:t>缺失时创建 Important Observation，不伪造文件。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一份基础图，三种显示粒度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投影只决定可见性与汇总，不重新推断因果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99616"/>
            <a:ext cx="3456432" cy="4462272"/>
          </a:xfrm>
          <a:prstGeom prst="roundRect">
            <a:avLst/>
          </a:prstGeom>
          <a:solidFill>
            <a:srgbClr val="FCFCFB"/>
          </a:solidFill>
          <a:ln w="25400"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1737360"/>
            <a:ext cx="987552" cy="310896"/>
          </a:xfrm>
          <a:prstGeom prst="roundRect">
            <a:avLst/>
          </a:prstGeom>
          <a:solidFill>
            <a:srgbClr val="2A78D6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宏观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49424"/>
            <a:ext cx="297180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看 Skill 之间如何协作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7792"/>
            <a:ext cx="2880360" cy="2011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全部同级 SkillRun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SemanticTask 摘要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latest 契约 .md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重要 / 关键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7" y="5276088"/>
            <a:ext cx="2651760" cy="310896"/>
          </a:xfrm>
          <a:prstGeom prst="roundRect">
            <a:avLst/>
          </a:prstGeom>
          <a:solidFill>
            <a:srgbClr val="CDE2FB"/>
          </a:solidFill>
          <a:ln>
            <a:solidFill>
              <a:srgbClr val="CDE2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2A78D6"/>
                </a:solidFill>
                <a:latin typeface="Microsoft YaHei"/>
              </a:rPr>
              <a:t>默认 RCA 视图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499616"/>
            <a:ext cx="3456432" cy="4462272"/>
          </a:xfrm>
          <a:prstGeom prst="roundRect">
            <a:avLst/>
          </a:prstGeom>
          <a:solidFill>
            <a:srgbClr val="FCFCFB"/>
          </a:solidFill>
          <a:ln w="25400"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90872" y="1737360"/>
            <a:ext cx="987552" cy="310896"/>
          </a:xfrm>
          <a:prstGeom prst="roundRect">
            <a:avLst/>
          </a:prstGeom>
          <a:solidFill>
            <a:srgbClr val="1BAF7A"/>
          </a:solidFill>
          <a:ln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中观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249424"/>
            <a:ext cx="297180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看每个 Task 如何完成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2907792"/>
            <a:ext cx="2880360" cy="2011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展开 Task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Decision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有副作用 ToolCall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完整 .md 版本链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全部 Error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82312" y="5276088"/>
            <a:ext cx="2651760" cy="310896"/>
          </a:xfrm>
          <a:prstGeom prst="roundRect">
            <a:avLst/>
          </a:prstGeom>
          <a:solidFill>
            <a:srgbClr val="D6F4E8"/>
          </a:solidFill>
          <a:ln>
            <a:solidFill>
              <a:srgbClr val="D6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1BAF7A"/>
                </a:solidFill>
                <a:latin typeface="Microsoft YaHei"/>
              </a:rPr>
              <a:t>任务审查视图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6" y="1499616"/>
            <a:ext cx="3456432" cy="4462272"/>
          </a:xfrm>
          <a:prstGeom prst="roundRect">
            <a:avLst/>
          </a:prstGeom>
          <a:solidFill>
            <a:srgbClr val="FCFCFB"/>
          </a:solidFill>
          <a:ln w="25400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94776" y="1737360"/>
            <a:ext cx="987552" cy="310896"/>
          </a:xfrm>
          <a:prstGeom prst="roundRect">
            <a:avLst/>
          </a:prstGeom>
          <a:solidFill>
            <a:srgbClr val="EB6834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微观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249424"/>
            <a:ext cx="297180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0B0B0B"/>
                </a:solidFill>
                <a:latin typeface="Microsoft YaHei"/>
              </a:rPr>
              <a:t>看原始执行证据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907792"/>
            <a:ext cx="2880360" cy="20116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全部 ToolCall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全部 Observation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全部 ArtifactVersion</a:t>
            </a:r>
          </a:p>
          <a:p>
            <a:pPr>
              <a:lnSpc>
                <a:spcPct val="108000"/>
              </a:lnSpc>
              <a:spcAft>
                <a:spcPts val="900"/>
              </a:spcAft>
              <a:defRPr sz="1200">
                <a:solidFill>
                  <a:srgbClr val="52514E"/>
                </a:solidFill>
                <a:latin typeface="Microsoft YaHei"/>
              </a:defRPr>
            </a:pPr>
            <a:r>
              <a:t>●  raw thought 在详情中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86216" y="5276088"/>
            <a:ext cx="2651760" cy="310896"/>
          </a:xfrm>
          <a:prstGeom prst="roundRect">
            <a:avLst/>
          </a:prstGeom>
          <a:solidFill>
            <a:srgbClr val="FBE1D7"/>
          </a:solidFill>
          <a:ln>
            <a:solidFill>
              <a:srgbClr val="FB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000" b="1">
                <a:solidFill>
                  <a:srgbClr val="EB6834"/>
                </a:solidFill>
                <a:latin typeface="Microsoft YaHei"/>
              </a:rPr>
              <a:t>调试证据视图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6144768"/>
            <a:ext cx="107442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1">
                <a:solidFill>
                  <a:srgbClr val="4A3AA7"/>
                </a:solidFill>
                <a:latin typeface="Microsoft YaHei"/>
              </a:rPr>
              <a:t>隐藏节点 → 提升到最近可见 Task / Skill → 创建 derived edge（记录 via）→ 去重 → 校验端点。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Streamlit 页面草图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三个入口：Skill 层级、Skill 因果、契约产物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17320"/>
            <a:ext cx="2286000" cy="4828032"/>
          </a:xfrm>
          <a:prstGeom prst="roundRect">
            <a:avLst/>
          </a:prstGeom>
          <a:solidFill>
            <a:srgbClr val="F0EFEC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182880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⚙ 过滤与粒度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2176272"/>
            <a:ext cx="1828800" cy="5943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2176272"/>
            <a:ext cx="73152" cy="59436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322576"/>
            <a:ext cx="14813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Trace JSONL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971800"/>
            <a:ext cx="1828800" cy="5943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971800"/>
            <a:ext cx="73152" cy="59436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118104"/>
            <a:ext cx="14813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宏观 / 中观 / 微观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767328"/>
            <a:ext cx="1828800" cy="5943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767328"/>
            <a:ext cx="73152" cy="594360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6" y="3913632"/>
            <a:ext cx="14813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最低 Error 级别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562856"/>
            <a:ext cx="1828800" cy="59436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4562856"/>
            <a:ext cx="73152" cy="594360"/>
          </a:xfrm>
          <a:prstGeom prst="round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4709160"/>
            <a:ext cx="148132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0B0B0B"/>
                </a:solidFill>
                <a:latin typeface="Microsoft YaHei"/>
              </a:rPr>
              <a:t>显示预期输出差异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5614416"/>
            <a:ext cx="1627632" cy="310896"/>
          </a:xfrm>
          <a:prstGeom prst="roundRect">
            <a:avLst/>
          </a:prstGeom>
          <a:solidFill>
            <a:srgbClr val="FCFCFB"/>
          </a:solidFill>
          <a:ln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800" b="1">
                <a:solidFill>
                  <a:srgbClr val="52514E"/>
                </a:solidFill>
                <a:latin typeface="Microsoft YaHei"/>
              </a:rPr>
              <a:t>解析诊断  692 events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73552" y="1426464"/>
            <a:ext cx="1874519" cy="310896"/>
          </a:xfrm>
          <a:prstGeom prst="roundRect">
            <a:avLst/>
          </a:prstGeom>
          <a:solidFill>
            <a:srgbClr val="2A78D6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① Skill 层级图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85232" y="1426464"/>
            <a:ext cx="1874519" cy="310896"/>
          </a:xfrm>
          <a:prstGeom prst="roundRect">
            <a:avLst/>
          </a:prstGeom>
          <a:solidFill>
            <a:srgbClr val="D6F4E8"/>
          </a:solidFill>
          <a:ln>
            <a:solidFill>
              <a:srgbClr val="D6F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1BAF7A"/>
                </a:solidFill>
                <a:latin typeface="Microsoft YaHei"/>
              </a:rPr>
              <a:t>② Skill 因果图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1426464"/>
            <a:ext cx="1874519" cy="310896"/>
          </a:xfrm>
          <a:prstGeom prst="roundRect">
            <a:avLst/>
          </a:prstGeom>
          <a:solidFill>
            <a:srgbClr val="FBE1D7"/>
          </a:solidFill>
          <a:ln>
            <a:solidFill>
              <a:srgbClr val="FBE1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EB6834"/>
                </a:solidFill>
                <a:latin typeface="Microsoft YaHei"/>
              </a:rPr>
              <a:t>③ 契约产物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18688" y="1975104"/>
            <a:ext cx="3703320" cy="42062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18688" y="1975104"/>
            <a:ext cx="73152" cy="420624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9856" y="2121408"/>
            <a:ext cx="33558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层级树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19856" y="2560320"/>
            <a:ext cx="3355848" cy="35112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52514E"/>
                </a:solidFill>
                <a:latin typeface="Microsoft YaHei"/>
              </a:rPr>
              <a:t>▼ aid-planning #1</a:t>
            </a:r>
            <a:br/>
            <a:r>
              <a:rPr sz="1300" b="0">
                <a:solidFill>
                  <a:srgbClr val="52514E"/>
                </a:solidFill>
                <a:latin typeface="Microsoft YaHei"/>
              </a:rPr>
              <a:t>   ▼ 生成 proposal.md</a:t>
            </a:r>
            <a:br/>
            <a:r>
              <a:rPr sz="1300" b="0">
                <a:solidFill>
                  <a:srgbClr val="52514E"/>
                </a:solidFill>
                <a:latin typeface="Microsoft YaHei"/>
              </a:rPr>
              <a:t>      ◇ Decision</a:t>
            </a:r>
            <a:br/>
            <a:r>
              <a:rPr sz="1300" b="0">
                <a:solidFill>
                  <a:srgbClr val="52514E"/>
                </a:solidFill>
                <a:latin typeface="Microsoft YaHei"/>
              </a:rPr>
              <a:t>      🛠 Write</a:t>
            </a:r>
            <a:br/>
            <a:r>
              <a:rPr sz="1300" b="0">
                <a:solidFill>
                  <a:srgbClr val="52514E"/>
                </a:solidFill>
                <a:latin typeface="Microsoft YaHei"/>
              </a:rPr>
              <a:t>      📄 proposal.md v1</a:t>
            </a:r>
            <a:br/>
            <a:br/>
            <a:r>
              <a:rPr sz="1300" b="0">
                <a:solidFill>
                  <a:srgbClr val="52514E"/>
                </a:solidFill>
                <a:latin typeface="Microsoft YaHei"/>
              </a:rPr>
              <a:t>▶ rq-parse #1</a:t>
            </a:r>
            <a:br/>
            <a:r>
              <a:rPr sz="1300" b="0">
                <a:solidFill>
                  <a:srgbClr val="52514E"/>
                </a:solidFill>
                <a:latin typeface="Microsoft YaHei"/>
              </a:rPr>
              <a:t>▶ mod-design #1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50608" y="1975104"/>
            <a:ext cx="4389120" cy="4206240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50608" y="1975104"/>
            <a:ext cx="73152" cy="420624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51776" y="2121408"/>
            <a:ext cx="4041648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节点审查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1776" y="2560320"/>
            <a:ext cx="4041648" cy="35112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Task：生成 proposal.md</a:t>
            </a:r>
            <a:br/>
            <a:r>
              <a:rPr sz="1200" b="0">
                <a:solidFill>
                  <a:srgbClr val="52514E"/>
                </a:solidFill>
                <a:latin typeface="Microsoft YaHei"/>
              </a:rPr>
              <a:t>confidence：HIGH</a:t>
            </a:r>
            <a:br/>
            <a:r>
              <a:rPr sz="1200" b="0">
                <a:solidFill>
                  <a:srgbClr val="52514E"/>
                </a:solidFill>
                <a:latin typeface="Microsoft YaHei"/>
              </a:rPr>
              <a:t>boundary：explicit goal + Write target</a:t>
            </a:r>
            <a:br/>
            <a:br/>
            <a:r>
              <a:rPr sz="1200" b="0">
                <a:solidFill>
                  <a:srgbClr val="52514E"/>
                </a:solidFill>
                <a:latin typeface="Microsoft YaHei"/>
              </a:rPr>
              <a:t>Raw thought</a:t>
            </a:r>
            <a:br/>
            <a:r>
              <a:rPr sz="1200" b="0">
                <a:solidFill>
                  <a:srgbClr val="52514E"/>
                </a:solidFill>
                <a:latin typeface="Microsoft YaHei"/>
              </a:rPr>
              <a:t>基于需求解析结果，生成提案……</a:t>
            </a:r>
            <a:br/>
            <a:br/>
            <a:r>
              <a:rPr sz="1200" b="0">
                <a:solidFill>
                  <a:srgbClr val="52514E"/>
                </a:solidFill>
                <a:latin typeface="Microsoft YaHei"/>
              </a:rPr>
              <a:t>ToolCall / Result / Error / Artifacts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789920" cy="4937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B0B0B"/>
                </a:solidFill>
                <a:latin typeface="Microsoft YaHei"/>
              </a:rPr>
              <a:t>TDD 实施路线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77824"/>
            <a:ext cx="1060704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52514E"/>
                </a:solidFill>
                <a:latin typeface="Microsoft YaHei"/>
              </a:rPr>
              <a:t>每一组先看到 RED，再写最小实现变 GREEN，最后 REFACTOR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207008"/>
            <a:ext cx="10972800" cy="18288"/>
          </a:xfrm>
          <a:prstGeom prst="rect">
            <a:avLst/>
          </a:prstGeom>
          <a:solidFill>
            <a:srgbClr val="E1E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429768"/>
            <a:ext cx="411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1100" b="1">
                <a:solidFill>
                  <a:srgbClr val="898781"/>
                </a:solidFill>
                <a:latin typeface="Microsoft Ya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3456432" cy="157276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481328"/>
            <a:ext cx="73152" cy="1572768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627632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SkillRun 生命周期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066544"/>
            <a:ext cx="31089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同级节点 · invokes · attribution 恢复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27632"/>
            <a:ext cx="384048" cy="310896"/>
          </a:xfrm>
          <a:prstGeom prst="roundRect">
            <a:avLst/>
          </a:prstGeom>
          <a:solidFill>
            <a:srgbClr val="2A78D6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1481328"/>
            <a:ext cx="3456432" cy="157276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1481328"/>
            <a:ext cx="73152" cy="1572768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27632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SemanticTask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066544"/>
            <a:ext cx="31089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语义分类 · 合并/切分 · 置信度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78624" y="1627632"/>
            <a:ext cx="384048" cy="310896"/>
          </a:xfrm>
          <a:prstGeom prst="roundRect">
            <a:avLst/>
          </a:prstGeom>
          <a:solidFill>
            <a:srgbClr val="1BAF7A"/>
          </a:solidFill>
          <a:ln>
            <a:solidFill>
              <a:srgbClr val="1BA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6" y="1481328"/>
            <a:ext cx="3456432" cy="157276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66176" y="1481328"/>
            <a:ext cx="73152" cy="1572768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1627632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Decision /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066544"/>
            <a:ext cx="31089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Thought 压缩 · Tool 归属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082528" y="1627632"/>
            <a:ext cx="384048" cy="310896"/>
          </a:xfrm>
          <a:prstGeom prst="roundRect">
            <a:avLst/>
          </a:prstGeom>
          <a:solidFill>
            <a:srgbClr val="EB6834"/>
          </a:solidFill>
          <a:ln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56432"/>
            <a:ext cx="3456432" cy="157276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368" y="3456432"/>
            <a:ext cx="73152" cy="1572768"/>
          </a:xfrm>
          <a:prstGeom prst="round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602736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Error / Recovery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4041648"/>
            <a:ext cx="31089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分级 · triggers · pass/fail 闭环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602736"/>
            <a:ext cx="384048" cy="310896"/>
          </a:xfrm>
          <a:prstGeom prst="roundRect">
            <a:avLst/>
          </a:prstGeom>
          <a:solidFill>
            <a:srgbClr val="D03B3B"/>
          </a:solidFill>
          <a:ln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62272" y="3456432"/>
            <a:ext cx="3456432" cy="157276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62272" y="3456432"/>
            <a:ext cx="73152" cy="1572768"/>
          </a:xfrm>
          <a:prstGeom prst="round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602736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.md 版本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041648"/>
            <a:ext cx="31089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v0/v1/v2 · consumes · produces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78624" y="3602736"/>
            <a:ext cx="384048" cy="310896"/>
          </a:xfrm>
          <a:prstGeom prst="roundRect">
            <a:avLst/>
          </a:prstGeom>
          <a:solidFill>
            <a:srgbClr val="4A3AA7"/>
          </a:solidFill>
          <a:ln>
            <a:solidFill>
              <a:srgbClr val="4A3A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66176" y="3456432"/>
            <a:ext cx="3456432" cy="1572768"/>
          </a:xfrm>
          <a:prstGeom prst="roundRect">
            <a:avLst/>
          </a:prstGeom>
          <a:solidFill>
            <a:srgbClr val="FCFCFB"/>
          </a:solidFill>
          <a:ln w="12700">
            <a:solidFill>
              <a:srgbClr val="E1E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66176" y="3456432"/>
            <a:ext cx="73152" cy="1572768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4" y="3602736"/>
            <a:ext cx="310896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0B0B0B"/>
                </a:solidFill>
                <a:latin typeface="Microsoft YaHei"/>
              </a:rPr>
              <a:t>投影与 Mermaid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4041648"/>
            <a:ext cx="3108960" cy="8778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52514E"/>
                </a:solidFill>
                <a:latin typeface="Microsoft YaHei"/>
              </a:rPr>
              <a:t>derived/via · 无悬空边 · UI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082528" y="3602736"/>
            <a:ext cx="384048" cy="310896"/>
          </a:xfrm>
          <a:prstGeom prst="roundRect">
            <a:avLst/>
          </a:prstGeom>
          <a:solidFill>
            <a:srgbClr val="2A78D6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5650992"/>
            <a:ext cx="2331720" cy="310896"/>
          </a:xfrm>
          <a:prstGeom prst="roundRect">
            <a:avLst/>
          </a:prstGeom>
          <a:solidFill>
            <a:srgbClr val="F7D8D8"/>
          </a:solidFill>
          <a:ln>
            <a:solidFill>
              <a:srgbClr val="D0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D03B3B"/>
                </a:solidFill>
                <a:latin typeface="Microsoft YaHei"/>
              </a:rPr>
              <a:t>RED · 真实失败测试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64992" y="5806440"/>
            <a:ext cx="612647" cy="0"/>
          </a:xfrm>
          <a:prstGeom prst="line">
            <a:avLst/>
          </a:prstGeom>
          <a:ln w="25400">
            <a:solidFill>
              <a:srgbClr val="898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041648" y="5650992"/>
            <a:ext cx="2331720" cy="310896"/>
          </a:xfrm>
          <a:prstGeom prst="roundRect">
            <a:avLst/>
          </a:prstGeom>
          <a:solidFill>
            <a:srgbClr val="D6F4E8"/>
          </a:solidFill>
          <a:ln>
            <a:solidFill>
              <a:srgbClr val="0CA3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0CA30C"/>
                </a:solidFill>
                <a:latin typeface="Microsoft YaHei"/>
              </a:rPr>
              <a:t>GREEN · 最小实现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46520" y="5806440"/>
            <a:ext cx="612648" cy="0"/>
          </a:xfrm>
          <a:prstGeom prst="line">
            <a:avLst/>
          </a:prstGeom>
          <a:ln w="25400">
            <a:solidFill>
              <a:srgbClr val="8987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123176" y="5650992"/>
            <a:ext cx="2331720" cy="310896"/>
          </a:xfrm>
          <a:prstGeom prst="roundRect">
            <a:avLst/>
          </a:prstGeom>
          <a:solidFill>
            <a:srgbClr val="CDE2FB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100" b="1">
                <a:solidFill>
                  <a:srgbClr val="2A78D6"/>
                </a:solidFill>
                <a:latin typeface="Microsoft YaHei"/>
              </a:rPr>
              <a:t>REFACTOR · 全量回归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528816"/>
            <a:ext cx="8046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层级因果图设计计划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6528816"/>
            <a:ext cx="868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2026-07-29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1078992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预期交付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124712"/>
            <a:ext cx="1051560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>
                <a:solidFill>
                  <a:srgbClr val="C3C2B7"/>
                </a:solidFill>
                <a:latin typeface="Microsoft YaHei"/>
              </a:rPr>
              <a:t>一个独立、可测试、可下钻的 trace_board_v2.py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1783080"/>
            <a:ext cx="5230368" cy="1005840"/>
          </a:xfrm>
          <a:prstGeom prst="roundRect">
            <a:avLst/>
          </a:prstGeom>
          <a:solidFill>
            <a:srgbClr val="242423"/>
          </a:solidFill>
          <a:ln w="12700">
            <a:solidFill>
              <a:srgbClr val="38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4944" y="1783080"/>
            <a:ext cx="73152" cy="1005840"/>
          </a:xfrm>
          <a:prstGeom prst="round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29384"/>
            <a:ext cx="48828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trace_board_v2.py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68296"/>
            <a:ext cx="488289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C3C2B7"/>
                </a:solidFill>
                <a:latin typeface="Microsoft YaHei"/>
              </a:rPr>
              <a:t>新实现；原 trace_board.py 不变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3" y="1783080"/>
            <a:ext cx="5230368" cy="1005840"/>
          </a:xfrm>
          <a:prstGeom prst="roundRect">
            <a:avLst/>
          </a:prstGeom>
          <a:solidFill>
            <a:srgbClr val="242423"/>
          </a:solidFill>
          <a:ln w="12700">
            <a:solidFill>
              <a:srgbClr val="38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72783" y="1783080"/>
            <a:ext cx="73152" cy="1005840"/>
          </a:xfrm>
          <a:prstGeom prst="round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929384"/>
            <a:ext cx="48828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Skill → Task 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1" y="2368296"/>
            <a:ext cx="488289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C3C2B7"/>
                </a:solidFill>
                <a:latin typeface="Microsoft YaHei"/>
              </a:rPr>
              <a:t>同级 Skill 大节点 + 语义 Task 二级节点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3081528"/>
            <a:ext cx="5230368" cy="1005840"/>
          </a:xfrm>
          <a:prstGeom prst="roundRect">
            <a:avLst/>
          </a:prstGeom>
          <a:solidFill>
            <a:srgbClr val="242423"/>
          </a:solidFill>
          <a:ln w="12700">
            <a:solidFill>
              <a:srgbClr val="38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3081528"/>
            <a:ext cx="73152" cy="1005840"/>
          </a:xfrm>
          <a:prstGeom prst="round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227832"/>
            <a:ext cx="48828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RCA 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666744"/>
            <a:ext cx="488289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C3C2B7"/>
                </a:solidFill>
                <a:latin typeface="Microsoft YaHei"/>
              </a:rPr>
              <a:t>Decision → Tool → Error → Recovery → 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3" y="3081528"/>
            <a:ext cx="5230368" cy="1005840"/>
          </a:xfrm>
          <a:prstGeom prst="roundRect">
            <a:avLst/>
          </a:prstGeom>
          <a:solidFill>
            <a:srgbClr val="242423"/>
          </a:solidFill>
          <a:ln w="12700">
            <a:solidFill>
              <a:srgbClr val="38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72783" y="3081528"/>
            <a:ext cx="73152" cy="1005840"/>
          </a:xfrm>
          <a:prstGeom prst="round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3227832"/>
            <a:ext cx="48828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契约产物血缘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3666744"/>
            <a:ext cx="488289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C3C2B7"/>
                </a:solidFill>
                <a:latin typeface="Microsoft YaHei"/>
              </a:rPr>
              <a:t>.md 版本、生产者、消费者、缺口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" y="4379976"/>
            <a:ext cx="5230368" cy="1005840"/>
          </a:xfrm>
          <a:prstGeom prst="roundRect">
            <a:avLst/>
          </a:prstGeom>
          <a:solidFill>
            <a:srgbClr val="242423"/>
          </a:solidFill>
          <a:ln w="12700">
            <a:solidFill>
              <a:srgbClr val="38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94944" y="4379976"/>
            <a:ext cx="73152" cy="1005840"/>
          </a:xfrm>
          <a:prstGeom prst="round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526280"/>
            <a:ext cx="48828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自动化测试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965192"/>
            <a:ext cx="488289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C3C2B7"/>
                </a:solidFill>
                <a:latin typeface="Microsoft YaHei"/>
              </a:rPr>
              <a:t>unittest + 精简 JSONL fixture + 真实 trace 冒烟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3" y="4379976"/>
            <a:ext cx="5230368" cy="1005840"/>
          </a:xfrm>
          <a:prstGeom prst="roundRect">
            <a:avLst/>
          </a:prstGeom>
          <a:solidFill>
            <a:srgbClr val="242423"/>
          </a:solidFill>
          <a:ln w="12700">
            <a:solidFill>
              <a:srgbClr val="3838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2783" y="4379976"/>
            <a:ext cx="73152" cy="1005840"/>
          </a:xfrm>
          <a:prstGeom prst="round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1" y="4526280"/>
            <a:ext cx="4882896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</a:rPr>
              <a:t>完整性保证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1" y="4965192"/>
            <a:ext cx="4882896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C3C2B7"/>
                </a:solidFill>
                <a:latin typeface="Microsoft YaHei"/>
              </a:rPr>
              <a:t>无 then 冒充因果 · 无悬空边 · 端点可追溯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25112" y="5980176"/>
            <a:ext cx="3520440" cy="310896"/>
          </a:xfrm>
          <a:prstGeom prst="roundRect">
            <a:avLst/>
          </a:prstGeom>
          <a:solidFill>
            <a:srgbClr val="2A78D6"/>
          </a:solidFill>
          <a:ln>
            <a:solidFill>
              <a:srgbClr val="2A78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9144" bIns="9144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先确认设计 · 再进入 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6492240"/>
            <a:ext cx="29260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898781"/>
                </a:solidFill>
                <a:latin typeface="Microsoft YaHei"/>
              </a:rPr>
              <a:t>trace_board_v2 · Design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trace_board_v2 层级因果图设计计划</dc:title>
  <dc:subject>SkillRun → SemanticTask → Decision/ToolCall</dc:subject>
  <dc:creator>Claude Code</dc:creator>
  <cp:keywords/>
  <dc:description>基于 2026-07-29 设计讨论生成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